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  <p:sldMasterId id="2147483663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6858000" cx="12192000"/>
  <p:notesSz cx="7559675" cy="10691800"/>
  <p:embeddedFontLst>
    <p:embeddedFont>
      <p:font typeface="Garamond"/>
      <p:regular r:id="rId13"/>
      <p:bold r:id="rId14"/>
      <p:italic r:id="rId15"/>
      <p:boldItalic r:id="rId16"/>
    </p:embeddedFont>
    <p:embeddedFont>
      <p:font typeface="Lexend"/>
      <p:regular r:id="rId17"/>
      <p:bold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CAD9BB-915B-4388-9D31-21DA4CC3BD1D}">
  <a:tblStyle styleId="{4DCAD9BB-915B-4388-9D31-21DA4CC3BD1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Garamond-regular.fntdata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Lexend-regular.fntdata"/><Relationship Id="rId16" Type="http://schemas.openxmlformats.org/officeDocument/2006/relationships/font" Target="fonts/Garamond-bold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swald-regular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Lexen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GB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lang="en-GB" sz="1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aa169130a_2_189:notes"/>
          <p:cNvSpPr/>
          <p:nvPr>
            <p:ph idx="2" type="sldImg"/>
          </p:nvPr>
        </p:nvSpPr>
        <p:spPr>
          <a:xfrm>
            <a:off x="419982" y="801885"/>
            <a:ext cx="6719711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7" name="Google Shape;217;g3faa169130a_2_189:notes"/>
          <p:cNvSpPr txBox="1"/>
          <p:nvPr>
            <p:ph idx="1" type="body"/>
          </p:nvPr>
        </p:nvSpPr>
        <p:spPr>
          <a:xfrm>
            <a:off x="755968" y="5078605"/>
            <a:ext cx="6047740" cy="4811310"/>
          </a:xfrm>
          <a:prstGeom prst="rect">
            <a:avLst/>
          </a:prstGeom>
          <a:noFill/>
          <a:ln>
            <a:noFill/>
          </a:ln>
        </p:spPr>
        <p:txBody>
          <a:bodyPr anchorCtr="0" anchor="t" bIns="51400" lIns="102825" spcFirstLastPara="1" rIns="102825" wrap="square" tIns="5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8" name="Google Shape;218;g3faa169130a_2_189:notes"/>
          <p:cNvSpPr txBox="1"/>
          <p:nvPr>
            <p:ph idx="12" type="sldNum"/>
          </p:nvPr>
        </p:nvSpPr>
        <p:spPr>
          <a:xfrm>
            <a:off x="4282066" y="10155354"/>
            <a:ext cx="3275859" cy="534590"/>
          </a:xfrm>
          <a:prstGeom prst="rect">
            <a:avLst/>
          </a:prstGeom>
          <a:noFill/>
          <a:ln>
            <a:noFill/>
          </a:ln>
        </p:spPr>
        <p:txBody>
          <a:bodyPr anchorCtr="0" anchor="b" bIns="51400" lIns="102825" spcFirstLastPara="1" rIns="102825" wrap="square" tIns="514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GB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:notes"/>
          <p:cNvSpPr txBox="1"/>
          <p:nvPr>
            <p:ph idx="12"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lang="en-GB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641"/>
              </a:spcBef>
              <a:spcAft>
                <a:spcPts val="0"/>
              </a:spcAft>
              <a:buSzPts val="1800"/>
              <a:buChar char="•"/>
              <a:defRPr/>
            </a:lvl1pPr>
            <a:lvl2pPr lvl="1" algn="l">
              <a:spcBef>
                <a:spcPts val="561"/>
              </a:spcBef>
              <a:spcAft>
                <a:spcPts val="0"/>
              </a:spcAft>
              <a:buSzPts val="1350"/>
              <a:buChar char="−"/>
              <a:defRPr/>
            </a:lvl2pPr>
            <a:lvl3pPr lvl="2" algn="l">
              <a:spcBef>
                <a:spcPts val="479"/>
              </a:spcBef>
              <a:spcAft>
                <a:spcPts val="0"/>
              </a:spcAft>
              <a:buSzPts val="810"/>
              <a:buChar char="●"/>
              <a:defRPr/>
            </a:lvl3pPr>
            <a:lvl4pPr lvl="3" algn="l">
              <a:spcBef>
                <a:spcPts val="400"/>
              </a:spcBef>
              <a:spcAft>
                <a:spcPts val="0"/>
              </a:spcAft>
              <a:buSzPts val="1350"/>
              <a:buChar char="−"/>
              <a:defRPr/>
            </a:lvl4pPr>
            <a:lvl5pPr lvl="4" algn="l">
              <a:spcBef>
                <a:spcPts val="400"/>
              </a:spcBef>
              <a:spcAft>
                <a:spcPts val="0"/>
              </a:spcAft>
              <a:buSzPts val="810"/>
              <a:buChar char="●"/>
              <a:defRPr/>
            </a:lvl5pPr>
            <a:lvl6pPr lvl="5" algn="l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6pPr>
            <a:lvl7pPr lvl="6" algn="l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spcBef>
                <a:spcPts val="641"/>
              </a:spcBef>
              <a:spcAft>
                <a:spcPts val="0"/>
              </a:spcAft>
              <a:buSzPts val="1800"/>
              <a:buChar char="•"/>
              <a:defRPr/>
            </a:lvl1pPr>
            <a:lvl2pPr indent="-314325" lvl="1" marL="914400" algn="l">
              <a:spcBef>
                <a:spcPts val="561"/>
              </a:spcBef>
              <a:spcAft>
                <a:spcPts val="0"/>
              </a:spcAft>
              <a:buSzPts val="1350"/>
              <a:buChar char="−"/>
              <a:defRPr/>
            </a:lvl2pPr>
            <a:lvl3pPr indent="-280035" lvl="2" marL="1371600" algn="l">
              <a:spcBef>
                <a:spcPts val="479"/>
              </a:spcBef>
              <a:spcAft>
                <a:spcPts val="0"/>
              </a:spcAft>
              <a:buSzPts val="810"/>
              <a:buChar char="●"/>
              <a:defRPr/>
            </a:lvl3pPr>
            <a:lvl4pPr indent="-314325" lvl="3" marL="1828800" algn="l">
              <a:spcBef>
                <a:spcPts val="400"/>
              </a:spcBef>
              <a:spcAft>
                <a:spcPts val="0"/>
              </a:spcAft>
              <a:buSzPts val="1350"/>
              <a:buChar char="−"/>
              <a:defRPr/>
            </a:lvl4pPr>
            <a:lvl5pPr indent="-280035" lvl="4" marL="2286000" algn="l">
              <a:spcBef>
                <a:spcPts val="400"/>
              </a:spcBef>
              <a:spcAft>
                <a:spcPts val="0"/>
              </a:spcAft>
              <a:buSzPts val="810"/>
              <a:buChar char="●"/>
              <a:defRPr/>
            </a:lvl5pPr>
            <a:lvl6pPr indent="-280035" lvl="5" marL="2743200" algn="l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6pPr>
            <a:lvl7pPr indent="-280035" lvl="6" marL="3200400" algn="l"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SzPts val="1800"/>
              <a:buChar char="•"/>
              <a:defRPr/>
            </a:lvl1pPr>
            <a:lvl2pPr indent="-314325" lvl="1" marL="91440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SzPts val="1350"/>
              <a:buChar char="−"/>
              <a:defRPr/>
            </a:lvl2pPr>
            <a:lvl3pPr indent="-280035" lvl="2" marL="13716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Char char="−"/>
              <a:defRPr/>
            </a:lvl4pPr>
            <a:lvl5pPr indent="-280035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10"/>
              <a:buChar char="●"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11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5" name="Google Shape;75;p11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 marR="0" rtl="0" algn="l"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61950" lvl="1" marL="914400" marR="0" rtl="0" algn="l"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297180" lvl="2" marL="1371600" marR="0" rtl="0" algn="l"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2857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swald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09480" y="1095480"/>
            <a:ext cx="10972440" cy="503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Oswald"/>
              <a:buNone/>
              <a:defRPr b="0" sz="1200" u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98989"/>
              </a:buClr>
              <a:buSzPts val="1200"/>
              <a:buFont typeface="Oswald"/>
              <a:buNone/>
              <a:defRPr b="0" sz="1200" u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espressif.com/projects/esp-idf/en/latest/esp32/?utm_source=chatgpt.com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bhuvan.nrsc.gov.in/ngmaps" TargetMode="External"/><Relationship Id="rId6" Type="http://schemas.openxmlformats.org/officeDocument/2006/relationships/hyperlink" Target="https://pmc.ncbi.nlm.nih.gov/articles/PMC974656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5656680" y="851400"/>
            <a:ext cx="4638240" cy="5154480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557200" y="1715760"/>
            <a:ext cx="3203280" cy="342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>
            <p:ph type="title"/>
          </p:nvPr>
        </p:nvSpPr>
        <p:spPr>
          <a:xfrm>
            <a:off x="331200" y="-526680"/>
            <a:ext cx="10362960" cy="207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Garamond"/>
              <a:buNone/>
            </a:pPr>
            <a:r>
              <a:rPr b="1" lang="en-GB" sz="4000" u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0" sz="4000" u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/>
          <p:nvPr/>
        </p:nvSpPr>
        <p:spPr>
          <a:xfrm>
            <a:off x="153720" y="1185840"/>
            <a:ext cx="8121600" cy="585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840" lvl="0" marL="2858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lang="en-GB" sz="2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ID – 26223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lang="en-GB" sz="2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Title – Disaster management and Risk mitigation System (Pre, During, Post Disaster)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lang="en-GB" sz="2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Theme – Disaster Management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lang="en-GB" sz="2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 Category – Software + Hardware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lang="en-GB" sz="2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ID - 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lang="en-GB" sz="2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Name - Innovexis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244080" y="658800"/>
            <a:ext cx="11760480" cy="2141640"/>
          </a:xfrm>
          <a:prstGeom prst="horizontalScroll">
            <a:avLst>
              <a:gd fmla="val 12500" name="adj"/>
            </a:avLst>
          </a:prstGeom>
          <a:solidFill>
            <a:srgbClr val="F75757"/>
          </a:solidFill>
          <a:ln cap="flat" cmpd="sng" w="9525">
            <a:solidFill>
              <a:srgbClr val="F7575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 txBox="1"/>
          <p:nvPr>
            <p:ph type="title"/>
          </p:nvPr>
        </p:nvSpPr>
        <p:spPr>
          <a:xfrm>
            <a:off x="182880" y="-31896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swald"/>
              <a:buNone/>
            </a:pPr>
            <a:br>
              <a:rPr lang="en-GB" sz="3600"/>
            </a:br>
            <a:r>
              <a:rPr b="1" lang="en-GB" sz="36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Aasha Setu</a:t>
            </a:r>
            <a:endParaRPr b="0" sz="3600" u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30" name="Google Shape;130;p19"/>
          <p:cNvSpPr/>
          <p:nvPr/>
        </p:nvSpPr>
        <p:spPr>
          <a:xfrm>
            <a:off x="0" y="52200"/>
            <a:ext cx="1794960" cy="661320"/>
          </a:xfrm>
          <a:prstGeom prst="ellipse">
            <a:avLst/>
          </a:prstGeom>
          <a:solidFill>
            <a:schemeClr val="lt1"/>
          </a:solidFill>
          <a:ln cap="flat" cmpd="sng" w="255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Innovexis</a:t>
            </a:r>
            <a:endParaRPr b="1" sz="1800" u="none" strike="noStrike">
              <a:solidFill>
                <a:srgbClr val="000000"/>
              </a:solidFill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2080" y="1440"/>
            <a:ext cx="1597680" cy="75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/>
          <p:nvPr/>
        </p:nvSpPr>
        <p:spPr>
          <a:xfrm>
            <a:off x="4077720" y="153000"/>
            <a:ext cx="3156840" cy="670680"/>
          </a:xfrm>
          <a:prstGeom prst="roundRect">
            <a:avLst>
              <a:gd fmla="val 16667" name="adj"/>
            </a:avLst>
          </a:prstGeom>
          <a:noFill/>
          <a:ln cap="flat" cmpd="sng" w="284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 rot="7200">
            <a:off x="430920" y="988200"/>
            <a:ext cx="11398680" cy="173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1" lang="en-GB" sz="18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 integrated disaster management platform with pre, during and post disaster management systems.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1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Unifying authorities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1" lang="en-GB" sz="18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do not have a system to send SOS message without cellular network.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84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1" lang="en-GB" sz="18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Lost &amp; found cases become difficult to coordinate at the time of chaos.</a:t>
            </a:r>
            <a:br>
              <a:rPr lang="en-GB" sz="1800">
                <a:latin typeface="Arial"/>
                <a:ea typeface="Arial"/>
                <a:cs typeface="Arial"/>
                <a:sym typeface="Arial"/>
              </a:rPr>
            </a:br>
            <a:r>
              <a:rPr b="1" lang="en-GB" sz="18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284400" y="2862000"/>
            <a:ext cx="1699560" cy="8586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FFA751"/>
          </a:solidFill>
          <a:ln cap="flat" cmpd="sng" w="9525">
            <a:solidFill>
              <a:srgbClr val="FFA75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 Disaster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2142720" y="3051720"/>
            <a:ext cx="368280" cy="48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A751"/>
          </a:solidFill>
          <a:ln cap="flat" cmpd="sng" w="9525">
            <a:solidFill>
              <a:srgbClr val="FFA75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2684160" y="2856600"/>
            <a:ext cx="2774880" cy="937440"/>
          </a:xfrm>
          <a:prstGeom prst="roundRect">
            <a:avLst>
              <a:gd fmla="val 16667" name="adj"/>
            </a:avLst>
          </a:prstGeom>
          <a:solidFill>
            <a:srgbClr val="FFA751"/>
          </a:solidFill>
          <a:ln cap="flat" cmpd="sng" w="9525">
            <a:solidFill>
              <a:srgbClr val="FFA75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2694600" y="2879280"/>
            <a:ext cx="2764440" cy="91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Real-time information of rainfall, cyclone, flood, landslide chances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6352920" y="2848680"/>
            <a:ext cx="2196000" cy="1002240"/>
          </a:xfrm>
          <a:prstGeom prst="roundRect">
            <a:avLst>
              <a:gd fmla="val 16667" name="adj"/>
            </a:avLst>
          </a:prstGeom>
          <a:solidFill>
            <a:srgbClr val="FFA751"/>
          </a:solidFill>
          <a:ln cap="flat" cmpd="sng" w="9525">
            <a:solidFill>
              <a:srgbClr val="FFA75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6450480" y="2936160"/>
            <a:ext cx="2232720" cy="91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Monitors river level and river course change.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9201960" y="2871000"/>
            <a:ext cx="2689920" cy="884880"/>
          </a:xfrm>
          <a:prstGeom prst="roundRect">
            <a:avLst>
              <a:gd fmla="val 16667" name="adj"/>
            </a:avLst>
          </a:prstGeom>
          <a:solidFill>
            <a:srgbClr val="FFA751"/>
          </a:solidFill>
          <a:ln cap="flat" cmpd="sng" w="9525">
            <a:solidFill>
              <a:srgbClr val="FFA75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9447840" y="2800440"/>
            <a:ext cx="223272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213840" y="4069440"/>
            <a:ext cx="1699560" cy="8586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F75757"/>
          </a:solidFill>
          <a:ln cap="flat" cmpd="sng" w="9525">
            <a:solidFill>
              <a:srgbClr val="F7575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During Disaster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2072160" y="4259520"/>
            <a:ext cx="470520" cy="48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75757"/>
          </a:solidFill>
          <a:ln cap="flat" cmpd="sng" w="9525">
            <a:solidFill>
              <a:srgbClr val="F7575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2629080" y="4052520"/>
            <a:ext cx="3017520" cy="1072440"/>
          </a:xfrm>
          <a:prstGeom prst="roundRect">
            <a:avLst>
              <a:gd fmla="val 16667" name="adj"/>
            </a:avLst>
          </a:prstGeom>
          <a:solidFill>
            <a:srgbClr val="F75757"/>
          </a:solidFill>
          <a:ln cap="flat" cmpd="sng" w="9525">
            <a:solidFill>
              <a:srgbClr val="F7575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2754720" y="4058280"/>
            <a:ext cx="2655000" cy="106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 u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Provides info of nearest rescue centres, hospitals and lets to access offline map of the area.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6376320" y="4105440"/>
            <a:ext cx="2265120" cy="1090080"/>
          </a:xfrm>
          <a:prstGeom prst="roundRect">
            <a:avLst>
              <a:gd fmla="val 16667" name="adj"/>
            </a:avLst>
          </a:prstGeom>
          <a:solidFill>
            <a:srgbClr val="F75757"/>
          </a:solidFill>
          <a:ln cap="flat" cmpd="sng" w="9525">
            <a:solidFill>
              <a:srgbClr val="F7575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474600" y="4185720"/>
            <a:ext cx="2232720" cy="91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Helps to  check safety status of family members.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9236880" y="3876840"/>
            <a:ext cx="2772000" cy="1470960"/>
          </a:xfrm>
          <a:prstGeom prst="roundRect">
            <a:avLst>
              <a:gd fmla="val 16667" name="adj"/>
            </a:avLst>
          </a:prstGeom>
          <a:solidFill>
            <a:srgbClr val="F75757"/>
          </a:solidFill>
          <a:ln cap="flat" cmpd="sng" w="9525">
            <a:solidFill>
              <a:srgbClr val="F7575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9271800" y="3884400"/>
            <a:ext cx="273708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trapped person can send SOS message to nearby drone through wifi and bluetooth even without any network.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237240" y="5546520"/>
            <a:ext cx="1699560" cy="8586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366092"/>
          </a:solidFill>
          <a:ln cap="flat" cmpd="sng" w="9525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Post Disaster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2095560" y="5736600"/>
            <a:ext cx="415440" cy="48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66092"/>
          </a:solidFill>
          <a:ln cap="flat" cmpd="sng" w="9525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660760" y="5459040"/>
            <a:ext cx="2798280" cy="1154520"/>
          </a:xfrm>
          <a:prstGeom prst="roundRect">
            <a:avLst>
              <a:gd fmla="val 15024" name="adj"/>
            </a:avLst>
          </a:prstGeom>
          <a:solidFill>
            <a:srgbClr val="366092"/>
          </a:solidFill>
          <a:ln cap="flat" cmpd="sng" w="9525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2770920" y="5529960"/>
            <a:ext cx="2767680" cy="91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Provides lost &amp; found section to find and report loved ones.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6567120" y="5529600"/>
            <a:ext cx="2086200" cy="931680"/>
          </a:xfrm>
          <a:prstGeom prst="roundRect">
            <a:avLst>
              <a:gd fmla="val 16667" name="adj"/>
            </a:avLst>
          </a:prstGeom>
          <a:solidFill>
            <a:srgbClr val="366092"/>
          </a:solidFill>
          <a:ln cap="flat" cmpd="sng" w="9525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6576480" y="5533200"/>
            <a:ext cx="2232720" cy="91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Relays authorities messages regarding rescue.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9785160" y="5459400"/>
            <a:ext cx="2238840" cy="1195560"/>
          </a:xfrm>
          <a:prstGeom prst="roundRect">
            <a:avLst>
              <a:gd fmla="val 16667" name="adj"/>
            </a:avLst>
          </a:prstGeom>
          <a:solidFill>
            <a:srgbClr val="366092"/>
          </a:solidFill>
          <a:ln cap="flat" cmpd="sng" w="9525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9817920" y="5474520"/>
            <a:ext cx="2232720" cy="118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Provides emotional support through chatbot to cure trauma.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9383400" y="2897640"/>
            <a:ext cx="1972440" cy="8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Offline downloadable maps available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672275" y="3210538"/>
            <a:ext cx="368400" cy="366000"/>
          </a:xfrm>
          <a:prstGeom prst="mathPlus">
            <a:avLst>
              <a:gd fmla="val 23520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8965663" y="5803200"/>
            <a:ext cx="368400" cy="366000"/>
          </a:xfrm>
          <a:prstGeom prst="mathPlus">
            <a:avLst>
              <a:gd fmla="val 23520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8691238" y="3210525"/>
            <a:ext cx="368400" cy="366000"/>
          </a:xfrm>
          <a:prstGeom prst="mathPlus">
            <a:avLst>
              <a:gd fmla="val 23520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8754963" y="4460100"/>
            <a:ext cx="368400" cy="366000"/>
          </a:xfrm>
          <a:prstGeom prst="mathPlus">
            <a:avLst>
              <a:gd fmla="val 23520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676775" y="5792813"/>
            <a:ext cx="368400" cy="366000"/>
          </a:xfrm>
          <a:prstGeom prst="mathPlus">
            <a:avLst>
              <a:gd fmla="val 23520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827263" y="4460100"/>
            <a:ext cx="368400" cy="366000"/>
          </a:xfrm>
          <a:prstGeom prst="mathPlus">
            <a:avLst>
              <a:gd fmla="val 23520" name="adj1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605680" y="-208832"/>
            <a:ext cx="109725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GB" sz="3600" u="sng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b="0" sz="3600" u="sng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8580945" y="6356525"/>
            <a:ext cx="2577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fld id="{00000000-1234-1234-1234-123412341234}" type="slidenum">
              <a:rPr b="1" lang="en-GB" sz="1200" u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0"/>
          <p:cNvSpPr txBox="1"/>
          <p:nvPr>
            <p:ph idx="11" type="ftr"/>
          </p:nvPr>
        </p:nvSpPr>
        <p:spPr>
          <a:xfrm>
            <a:off x="4874886" y="6356525"/>
            <a:ext cx="2903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swald"/>
              <a:buNone/>
            </a:pPr>
            <a:r>
              <a:rPr b="0" lang="en-GB" sz="1200" u="none" strike="noStrik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Your startup LOGO" id="173" name="Google Shape;173;p20"/>
          <p:cNvSpPr/>
          <p:nvPr/>
        </p:nvSpPr>
        <p:spPr>
          <a:xfrm>
            <a:off x="0" y="39960"/>
            <a:ext cx="1811520" cy="645120"/>
          </a:xfrm>
          <a:prstGeom prst="ellipse">
            <a:avLst/>
          </a:prstGeom>
          <a:solidFill>
            <a:schemeClr val="lt1"/>
          </a:solidFill>
          <a:ln cap="flat" cmpd="sng" w="255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Innovexis</a:t>
            </a:r>
            <a:endParaRPr b="1" sz="1800" u="none" strike="noStrike">
              <a:solidFill>
                <a:srgbClr val="000000"/>
              </a:solidFill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2104" y="-1"/>
            <a:ext cx="1975148" cy="93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3399938" y="782375"/>
            <a:ext cx="1645500" cy="1007400"/>
          </a:xfrm>
          <a:prstGeom prst="roundRect">
            <a:avLst>
              <a:gd fmla="val 11628" name="adj"/>
            </a:avLst>
          </a:prstGeom>
          <a:solidFill>
            <a:srgbClr val="6AA84F"/>
          </a:solidFill>
          <a:ln cap="flat" cmpd="sng" w="11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550" lIns="110550" spcFirstLastPara="1" rIns="110550" wrap="square" tIns="110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3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151932" y="782375"/>
            <a:ext cx="1645500" cy="1007400"/>
          </a:xfrm>
          <a:prstGeom prst="roundRect">
            <a:avLst>
              <a:gd fmla="val 11628" name="adj"/>
            </a:avLst>
          </a:prstGeom>
          <a:solidFill>
            <a:srgbClr val="4A7EBB"/>
          </a:solidFill>
          <a:ln cap="flat" cmpd="sng" w="11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550" lIns="110550" spcFirstLastPara="1" rIns="110550" wrap="square" tIns="110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3"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flipH="1" rot="10800000">
            <a:off x="5045408" y="1286075"/>
            <a:ext cx="466800" cy="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8" name="Google Shape;178;p20"/>
          <p:cNvCxnSpPr/>
          <p:nvPr/>
        </p:nvCxnSpPr>
        <p:spPr>
          <a:xfrm rot="10800000">
            <a:off x="6685133" y="1286075"/>
            <a:ext cx="466800" cy="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9" name="Google Shape;179;p20"/>
          <p:cNvCxnSpPr/>
          <p:nvPr/>
        </p:nvCxnSpPr>
        <p:spPr>
          <a:xfrm>
            <a:off x="6083075" y="1472350"/>
            <a:ext cx="17700" cy="59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0" name="Google Shape;180;p20"/>
          <p:cNvSpPr/>
          <p:nvPr/>
        </p:nvSpPr>
        <p:spPr>
          <a:xfrm>
            <a:off x="3399915" y="2229101"/>
            <a:ext cx="5397300" cy="2240100"/>
          </a:xfrm>
          <a:prstGeom prst="roundRect">
            <a:avLst>
              <a:gd fmla="val 11628" name="adj"/>
            </a:avLst>
          </a:prstGeom>
          <a:solidFill>
            <a:srgbClr val="FFA751"/>
          </a:solidFill>
          <a:ln cap="flat" cmpd="sng" w="11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550" lIns="110550" spcFirstLastPara="1" rIns="110550" wrap="square" tIns="110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3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686142" y="2622827"/>
            <a:ext cx="2308500" cy="771000"/>
          </a:xfrm>
          <a:prstGeom prst="roundRect">
            <a:avLst>
              <a:gd fmla="val 11628" name="adj"/>
            </a:avLst>
          </a:prstGeom>
          <a:solidFill>
            <a:schemeClr val="lt1"/>
          </a:solidFill>
          <a:ln cap="flat" cmpd="sng" w="9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225" lIns="91225" spcFirstLastPara="1" rIns="91225" wrap="square" tIns="9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7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6249699" y="2622827"/>
            <a:ext cx="2299800" cy="771000"/>
          </a:xfrm>
          <a:prstGeom prst="roundRect">
            <a:avLst>
              <a:gd fmla="val 11628" name="adj"/>
            </a:avLst>
          </a:prstGeom>
          <a:solidFill>
            <a:schemeClr val="lt1"/>
          </a:solidFill>
          <a:ln cap="flat" cmpd="sng" w="9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225" lIns="91225" spcFirstLastPara="1" rIns="91225" wrap="square" tIns="9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7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677197" y="3537249"/>
            <a:ext cx="2308500" cy="771000"/>
          </a:xfrm>
          <a:prstGeom prst="roundRect">
            <a:avLst>
              <a:gd fmla="val 11628" name="adj"/>
            </a:avLst>
          </a:prstGeom>
          <a:solidFill>
            <a:schemeClr val="lt1"/>
          </a:solidFill>
          <a:ln cap="flat" cmpd="sng" w="9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225" lIns="91225" spcFirstLastPara="1" rIns="91225" wrap="square" tIns="9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7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240789" y="3537249"/>
            <a:ext cx="2299800" cy="771000"/>
          </a:xfrm>
          <a:prstGeom prst="roundRect">
            <a:avLst>
              <a:gd fmla="val 11628" name="adj"/>
            </a:avLst>
          </a:prstGeom>
          <a:solidFill>
            <a:schemeClr val="lt1"/>
          </a:solidFill>
          <a:ln cap="flat" cmpd="sng" w="9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225" lIns="91225" spcFirstLastPara="1" rIns="91225" wrap="square" tIns="91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7"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>
            <a:off x="6136984" y="4469203"/>
            <a:ext cx="15600" cy="352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6" name="Google Shape;186;p20"/>
          <p:cNvCxnSpPr/>
          <p:nvPr/>
        </p:nvCxnSpPr>
        <p:spPr>
          <a:xfrm>
            <a:off x="4581407" y="4811954"/>
            <a:ext cx="1500" cy="46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7" name="Google Shape;187;p20"/>
          <p:cNvCxnSpPr/>
          <p:nvPr/>
        </p:nvCxnSpPr>
        <p:spPr>
          <a:xfrm>
            <a:off x="6152753" y="4821704"/>
            <a:ext cx="8400" cy="36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8" name="Google Shape;188;p20"/>
          <p:cNvCxnSpPr/>
          <p:nvPr/>
        </p:nvCxnSpPr>
        <p:spPr>
          <a:xfrm flipH="1">
            <a:off x="7706682" y="4821704"/>
            <a:ext cx="300" cy="40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9" name="Google Shape;189;p20"/>
          <p:cNvCxnSpPr/>
          <p:nvPr/>
        </p:nvCxnSpPr>
        <p:spPr>
          <a:xfrm flipH="1">
            <a:off x="4502123" y="4734479"/>
            <a:ext cx="1606800" cy="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6214257" y="4734479"/>
            <a:ext cx="1562400" cy="38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1" name="Google Shape;191;p20"/>
          <p:cNvSpPr/>
          <p:nvPr/>
        </p:nvSpPr>
        <p:spPr>
          <a:xfrm>
            <a:off x="3538058" y="5344829"/>
            <a:ext cx="1606800" cy="1007400"/>
          </a:xfrm>
          <a:prstGeom prst="roundRect">
            <a:avLst>
              <a:gd fmla="val 11628" name="adj"/>
            </a:avLst>
          </a:prstGeom>
          <a:solidFill>
            <a:schemeClr val="lt1"/>
          </a:solidFill>
          <a:ln cap="flat" cmpd="sng" w="11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550" lIns="110550" spcFirstLastPara="1" rIns="110550" wrap="square" tIns="110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3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341585" y="5344829"/>
            <a:ext cx="1606800" cy="1007400"/>
          </a:xfrm>
          <a:prstGeom prst="roundRect">
            <a:avLst>
              <a:gd fmla="val 11628" name="adj"/>
            </a:avLst>
          </a:prstGeom>
          <a:solidFill>
            <a:schemeClr val="lt1"/>
          </a:solidFill>
          <a:ln cap="flat" cmpd="sng" w="11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550" lIns="110550" spcFirstLastPara="1" rIns="110550" wrap="square" tIns="110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3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7145113" y="5344829"/>
            <a:ext cx="1606800" cy="1007400"/>
          </a:xfrm>
          <a:prstGeom prst="roundRect">
            <a:avLst>
              <a:gd fmla="val 11628" name="adj"/>
            </a:avLst>
          </a:prstGeom>
          <a:solidFill>
            <a:schemeClr val="lt1"/>
          </a:solidFill>
          <a:ln cap="flat" cmpd="sng" w="11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0550" lIns="110550" spcFirstLastPara="1" rIns="110550" wrap="square" tIns="110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3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791208" y="903725"/>
            <a:ext cx="1254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Android Application</a:t>
            </a:r>
            <a:endParaRPr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(Kotlin)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7151933" y="793475"/>
            <a:ext cx="16455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Command Dashboard Website</a:t>
            </a:r>
            <a:endParaRPr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(Typsecript, Next.js)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770862" y="2643226"/>
            <a:ext cx="212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AI/ML Engine</a:t>
            </a:r>
            <a:endParaRPr b="1"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YOLO, NLP</a:t>
            </a:r>
            <a:endParaRPr b="1"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3109425" y="5344829"/>
            <a:ext cx="24639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PostgreSQL</a:t>
            </a:r>
            <a:endParaRPr b="1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b="1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PostGIS</a:t>
            </a:r>
            <a:endParaRPr b="1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299834" y="2651027"/>
            <a:ext cx="2814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Decision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Priority, dispatch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914623" y="3524140"/>
            <a:ext cx="2299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GIS Engine</a:t>
            </a:r>
            <a:endParaRPr b="1"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PostGIS Queries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389574" y="5483279"/>
            <a:ext cx="1510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Redis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(cache data)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852017" y="5407429"/>
            <a:ext cx="2193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API keys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IMD Weather, ISRO Bhuvan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694401" y="3567763"/>
            <a:ext cx="3410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Routing Engine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Safe routes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5512205" y="978263"/>
            <a:ext cx="505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FastAPI</a:t>
            </a:r>
            <a:endParaRPr sz="28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8062" y="1053576"/>
            <a:ext cx="304613" cy="465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5" name="Google Shape;205;p20"/>
          <p:cNvGraphicFramePr/>
          <p:nvPr/>
        </p:nvGraphicFramePr>
        <p:xfrm>
          <a:off x="81227" y="17295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{4DCAD9BB-915B-4388-9D31-21DA4CC3BD1D}</a:tableStyleId>
              </a:tblPr>
              <a:tblGrid>
                <a:gridCol w="760050"/>
                <a:gridCol w="2452050"/>
              </a:tblGrid>
              <a:tr h="66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Next.js 16, React 19, TS, Tailwind v4, MapLibre GL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Android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Kotlin, Jetpack Compose, Hilt, Room, WorkManager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</a:tr>
              <a:tr h="66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FastAPI, SQLAlchemy 2 + GeoAlchemy2, Pydantic v2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 16 + PostGIS 3.4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</a:tr>
              <a:tr h="66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Realtime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Server-Sent Events + in-process broker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 / CV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ESP32-CAM, Ultralytics YOLO11 (n/s)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9"/>
                    </a:solidFill>
                  </a:tcPr>
                </a:tc>
              </a:tr>
              <a:tr h="66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Hosting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6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Vercel · Render · Supabase (free tier)</a:t>
                      </a:r>
                      <a:endParaRPr b="1" sz="1700"/>
                    </a:p>
                  </a:txBody>
                  <a:tcPr marT="18300" marB="18300" marR="54875" marL="5487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6" name="Google Shape;20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03825" y="4020325"/>
            <a:ext cx="3288176" cy="23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9825" y="1053575"/>
            <a:ext cx="3099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Technologies used:</a:t>
            </a:r>
            <a:endParaRPr sz="3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9530750" y="1386850"/>
            <a:ext cx="2499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SOS signal</a:t>
            </a:r>
            <a:endParaRPr sz="32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>
            <a:off x="10403225" y="1995400"/>
            <a:ext cx="5400" cy="30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0" name="Google Shape;210;p20"/>
          <p:cNvSpPr txBox="1"/>
          <p:nvPr/>
        </p:nvSpPr>
        <p:spPr>
          <a:xfrm>
            <a:off x="8429825" y="2170913"/>
            <a:ext cx="3952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Other drones/citizens</a:t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within range</a:t>
            </a:r>
            <a:endParaRPr sz="2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211" name="Google Shape;211;p20"/>
          <p:cNvCxnSpPr/>
          <p:nvPr/>
        </p:nvCxnSpPr>
        <p:spPr>
          <a:xfrm>
            <a:off x="10403225" y="3088413"/>
            <a:ext cx="5400" cy="30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2" name="Google Shape;212;p20"/>
          <p:cNvSpPr txBox="1"/>
          <p:nvPr/>
        </p:nvSpPr>
        <p:spPr>
          <a:xfrm>
            <a:off x="9114125" y="3303525"/>
            <a:ext cx="370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u="sng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Authorities Dashboard</a:t>
            </a:r>
            <a:endParaRPr sz="2500" u="sng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8892150" y="1443275"/>
            <a:ext cx="3099600" cy="2429700"/>
          </a:xfrm>
          <a:prstGeom prst="roundRect">
            <a:avLst>
              <a:gd fmla="val 16667" name="adj"/>
            </a:avLst>
          </a:prstGeom>
          <a:solidFill>
            <a:srgbClr val="7F7F7F">
              <a:alpha val="149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283975" y="2190825"/>
            <a:ext cx="3709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900" u="sng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Python backend</a:t>
            </a:r>
            <a:endParaRPr i="1" sz="1900" u="sng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1847088" y="91440"/>
            <a:ext cx="7726679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 u="sng">
                <a:solidFill>
                  <a:srgbClr val="0B2E4E"/>
                </a:solidFill>
                <a:latin typeface="Calibri"/>
                <a:ea typeface="Calibri"/>
                <a:cs typeface="Calibri"/>
                <a:sym typeface="Calibri"/>
              </a:rPr>
              <a:t>IMPACT AND BENEFITS</a:t>
            </a:r>
            <a:endParaRPr b="1" u="sng"/>
          </a:p>
        </p:txBody>
      </p: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GB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2" name="Google Shape;222;p21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23" name="Google Shape;223;p21"/>
          <p:cNvSpPr/>
          <p:nvPr/>
        </p:nvSpPr>
        <p:spPr>
          <a:xfrm>
            <a:off x="1" y="-24827"/>
            <a:ext cx="1685400" cy="78030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B2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B2E4E"/>
                </a:solidFill>
                <a:latin typeface="Calibri"/>
                <a:ea typeface="Calibri"/>
                <a:cs typeface="Calibri"/>
                <a:sym typeface="Calibri"/>
              </a:rPr>
              <a:t>Team Innovexis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330695" y="1091367"/>
            <a:ext cx="11247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64000" spcFirstLastPara="1" rIns="640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sng" cap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From scattered hotlines to one auditable loop — on a low-end phone, for any disaster type.</a:t>
            </a:r>
            <a:endParaRPr u="sng"/>
          </a:p>
        </p:txBody>
      </p:sp>
      <p:sp>
        <p:nvSpPr>
          <p:cNvPr id="226" name="Google Shape;226;p21"/>
          <p:cNvSpPr/>
          <p:nvPr/>
        </p:nvSpPr>
        <p:spPr>
          <a:xfrm>
            <a:off x="335250" y="1583526"/>
            <a:ext cx="3703200" cy="114540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12700">
            <a:solidFill>
              <a:srgbClr val="CFD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35259" y="1583530"/>
            <a:ext cx="3703200" cy="310800"/>
          </a:xfrm>
          <a:prstGeom prst="roundRect">
            <a:avLst>
              <a:gd fmla="val 12000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53547" y="1588101"/>
            <a:ext cx="3666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64000" spcFirstLastPara="1" rIns="640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CITIZENS</a:t>
            </a:r>
            <a:endParaRPr sz="1600"/>
          </a:p>
        </p:txBody>
      </p:sp>
      <p:sp>
        <p:nvSpPr>
          <p:cNvPr id="229" name="Google Shape;229;p21"/>
          <p:cNvSpPr txBox="1"/>
          <p:nvPr/>
        </p:nvSpPr>
        <p:spPr>
          <a:xfrm>
            <a:off x="444987" y="1931002"/>
            <a:ext cx="34839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64000" spcFirstLastPara="1" rIns="64000" wrap="square" tIns="27425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40" u="none" cap="none" strike="noStrike">
                <a:solidFill>
                  <a:srgbClr val="1E2936"/>
                </a:solidFill>
                <a:latin typeface="Calibri"/>
                <a:ea typeface="Calibri"/>
                <a:cs typeface="Calibri"/>
                <a:sym typeface="Calibri"/>
              </a:rPr>
              <a:t>•  Hazard forecast + risk for their exact location</a:t>
            </a:r>
            <a:endParaRPr b="1" sz="1800"/>
          </a:p>
          <a:p>
            <a:pPr indent="0" lvl="0" marL="0" marR="0" rtl="0"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240" u="none" cap="none" strike="noStrike">
                <a:solidFill>
                  <a:srgbClr val="1E2936"/>
                </a:solidFill>
                <a:latin typeface="Calibri"/>
                <a:ea typeface="Calibri"/>
                <a:cs typeface="Calibri"/>
                <a:sym typeface="Calibri"/>
              </a:rPr>
              <a:t>•  SOS with evidence that survives a dead network</a:t>
            </a:r>
            <a:endParaRPr b="1" sz="1800"/>
          </a:p>
          <a:p>
            <a:pPr indent="0" lvl="0" marL="0" marR="0" rtl="0"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240" u="none" cap="none" strike="noStrike">
                <a:solidFill>
                  <a:srgbClr val="1E2936"/>
                </a:solidFill>
                <a:latin typeface="Calibri"/>
                <a:ea typeface="Calibri"/>
                <a:cs typeface="Calibri"/>
                <a:sym typeface="Calibri"/>
              </a:rPr>
              <a:t>•  Nearest shelter / hospital; family safety status</a:t>
            </a:r>
            <a:endParaRPr b="1" sz="1800"/>
          </a:p>
        </p:txBody>
      </p:sp>
      <p:sp>
        <p:nvSpPr>
          <p:cNvPr id="230" name="Google Shape;230;p21"/>
          <p:cNvSpPr/>
          <p:nvPr/>
        </p:nvSpPr>
        <p:spPr>
          <a:xfrm>
            <a:off x="335250" y="2833200"/>
            <a:ext cx="3703200" cy="106230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12700">
            <a:solidFill>
              <a:srgbClr val="CFD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35259" y="2833208"/>
            <a:ext cx="3703200" cy="310800"/>
          </a:xfrm>
          <a:prstGeom prst="roundRect">
            <a:avLst>
              <a:gd fmla="val 12000" name="adj"/>
            </a:avLst>
          </a:prstGeom>
          <a:solidFill>
            <a:srgbClr val="0B2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53547" y="2837780"/>
            <a:ext cx="3666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64000" spcFirstLastPara="1" rIns="640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RESPONDERS &amp; AUTHORITIES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444987" y="3180680"/>
            <a:ext cx="34839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64000" spcFirstLastPara="1" rIns="64000" wrap="square" tIns="27425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40" u="none" cap="none" strike="noStrike">
                <a:solidFill>
                  <a:srgbClr val="1E2936"/>
                </a:solidFill>
                <a:latin typeface="Calibri"/>
                <a:ea typeface="Calibri"/>
                <a:cs typeface="Calibri"/>
                <a:sym typeface="Calibri"/>
              </a:rPr>
              <a:t>•  One prioritised queue — act on the right case first</a:t>
            </a:r>
            <a:endParaRPr b="1" sz="1600"/>
          </a:p>
          <a:p>
            <a:pPr indent="0" lvl="0" marL="0" marR="0" rtl="0"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040" u="none" cap="none" strike="noStrike">
                <a:solidFill>
                  <a:srgbClr val="1E2936"/>
                </a:solidFill>
                <a:latin typeface="Calibri"/>
                <a:ea typeface="Calibri"/>
                <a:cs typeface="Calibri"/>
                <a:sym typeface="Calibri"/>
              </a:rPr>
              <a:t>•  Verified incidents only; nearest-responder + safe route</a:t>
            </a:r>
            <a:endParaRPr b="1" sz="1600"/>
          </a:p>
          <a:p>
            <a:pPr indent="0" lvl="0" marL="0" marR="0" rtl="0"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GB" sz="1040" u="none" cap="none" strike="noStrike">
                <a:solidFill>
                  <a:srgbClr val="1E2936"/>
                </a:solidFill>
                <a:latin typeface="Calibri"/>
                <a:ea typeface="Calibri"/>
                <a:cs typeface="Calibri"/>
                <a:sym typeface="Calibri"/>
              </a:rPr>
              <a:t>•  Area-wide alerts + live situational picture</a:t>
            </a:r>
            <a:endParaRPr b="1" sz="1600"/>
          </a:p>
        </p:txBody>
      </p:sp>
      <p:graphicFrame>
        <p:nvGraphicFramePr>
          <p:cNvPr id="234" name="Google Shape;234;p21"/>
          <p:cNvGraphicFramePr/>
          <p:nvPr/>
        </p:nvGraphicFramePr>
        <p:xfrm>
          <a:off x="4262629" y="1675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{4DCAD9BB-915B-4388-9D31-21DA4CC3BD1D}</a:tableStyleId>
              </a:tblPr>
              <a:tblGrid>
                <a:gridCol w="1371600"/>
                <a:gridCol w="2743200"/>
                <a:gridCol w="3483875"/>
              </a:tblGrid>
              <a:tr h="7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18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</a:t>
                      </a:r>
                      <a:endParaRPr sz="2700"/>
                    </a:p>
                  </a:txBody>
                  <a:tcPr marT="18300" marB="18300" marR="54875" marL="54875" anchor="ctr">
                    <a:solidFill>
                      <a:srgbClr val="0B2E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18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Today</a:t>
                      </a:r>
                      <a:endParaRPr sz="2700"/>
                    </a:p>
                  </a:txBody>
                  <a:tcPr marT="18300" marB="18300" marR="54875" marL="54875" anchor="ctr">
                    <a:solidFill>
                      <a:srgbClr val="0B2E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18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 Aasha Setu</a:t>
                      </a:r>
                      <a:endParaRPr sz="2700"/>
                    </a:p>
                  </a:txBody>
                  <a:tcPr marT="18300" marB="18300" marR="54875" marL="54875" anchor="ctr">
                    <a:solidFill>
                      <a:srgbClr val="0B2E4E"/>
                    </a:solidFill>
                  </a:tcPr>
                </a:tc>
              </a:tr>
              <a:tr h="7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Hazard info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Generic city-wide bulletins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Per-GPS-point, 4 hazards, live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7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Who needs help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calls, guesswork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Geotagged reports, ranked by priority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4F7F9"/>
                    </a:solidFill>
                  </a:tcPr>
                </a:tc>
              </a:tr>
              <a:tr h="7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 trust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Unverified, duplicated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Confidence score + human verify gate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  <a:tr h="7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Dispatch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 radio coordination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Nearest responder + OSRM safe route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4F7F9"/>
                    </a:solidFill>
                  </a:tcPr>
                </a:tc>
              </a:tr>
              <a:tr h="77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network drops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Nothing gets through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540" u="none" cap="none" strike="noStrike">
                          <a:solidFill>
                            <a:srgbClr val="1E29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Queued SOS + offline map + drone relay (designed)</a:t>
                      </a:r>
                      <a:endParaRPr b="1" sz="2100"/>
                    </a:p>
                  </a:txBody>
                  <a:tcPr marT="18300" marB="18300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p21"/>
          <p:cNvSpPr/>
          <p:nvPr/>
        </p:nvSpPr>
        <p:spPr>
          <a:xfrm>
            <a:off x="353550" y="4010525"/>
            <a:ext cx="3666600" cy="140430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12325">
            <a:solidFill>
              <a:srgbClr val="CFD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325" lIns="88700" spcFirstLastPara="1" rIns="88700" wrap="square" tIns="4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353550" y="4010525"/>
            <a:ext cx="3666600" cy="256800"/>
          </a:xfrm>
          <a:prstGeom prst="roundRect">
            <a:avLst>
              <a:gd fmla="val 12000" name="adj"/>
            </a:avLst>
          </a:prstGeom>
          <a:solidFill>
            <a:srgbClr val="0E7C7B"/>
          </a:solidFill>
          <a:ln>
            <a:noFill/>
          </a:ln>
        </p:spPr>
        <p:txBody>
          <a:bodyPr anchorCtr="0" anchor="ctr" bIns="44325" lIns="88700" spcFirstLastPara="1" rIns="88700" wrap="square" tIns="443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380949" y="4014300"/>
            <a:ext cx="3612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600" lIns="62075" spcFirstLastPara="1" rIns="62075" wrap="square" tIns="26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1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 sz="1558"/>
          </a:p>
        </p:txBody>
      </p:sp>
      <p:sp>
        <p:nvSpPr>
          <p:cNvPr id="238" name="Google Shape;238;p21"/>
          <p:cNvSpPr txBox="1"/>
          <p:nvPr/>
        </p:nvSpPr>
        <p:spPr>
          <a:xfrm>
            <a:off x="517944" y="4312559"/>
            <a:ext cx="33381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600" lIns="62075" spcFirstLastPara="1" rIns="62075" wrap="square" tIns="266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74" u="none" cap="none" strike="noStrike">
                <a:solidFill>
                  <a:srgbClr val="1E2936"/>
                </a:solidFill>
                <a:latin typeface="Calibri"/>
                <a:ea typeface="Calibri"/>
                <a:cs typeface="Calibri"/>
                <a:sym typeface="Calibri"/>
              </a:rPr>
              <a:t>Faster help; families reconnected via check-ins; equal access on free OSM maps + low-end phones</a:t>
            </a:r>
            <a:endParaRPr b="1" sz="2037"/>
          </a:p>
        </p:txBody>
      </p:sp>
      <p:sp>
        <p:nvSpPr>
          <p:cNvPr id="239" name="Google Shape;239;p21"/>
          <p:cNvSpPr/>
          <p:nvPr/>
        </p:nvSpPr>
        <p:spPr>
          <a:xfrm>
            <a:off x="153500" y="5473075"/>
            <a:ext cx="3840000" cy="1248300"/>
          </a:xfrm>
          <a:prstGeom prst="roundRect">
            <a:avLst>
              <a:gd fmla="val 5500" name="adj"/>
            </a:avLst>
          </a:prstGeom>
          <a:solidFill>
            <a:srgbClr val="FFFFFF"/>
          </a:solidFill>
          <a:ln cap="flat" cmpd="sng" w="12700">
            <a:solidFill>
              <a:srgbClr val="CFD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153501" y="5473075"/>
            <a:ext cx="3840000" cy="310800"/>
          </a:xfrm>
          <a:prstGeom prst="roundRect">
            <a:avLst>
              <a:gd fmla="val 12000" name="adj"/>
            </a:avLst>
          </a:prstGeom>
          <a:solidFill>
            <a:srgbClr val="276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182195" y="5477647"/>
            <a:ext cx="37830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64000" spcFirstLastPara="1" rIns="640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SYSTEMIC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325664" y="5830989"/>
            <a:ext cx="3529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64000" spcFirstLastPara="1" rIns="64000" wrap="square" tIns="27425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19" u="none" cap="none" strike="noStrike">
                <a:solidFill>
                  <a:srgbClr val="1E2936"/>
                </a:solidFill>
                <a:latin typeface="Calibri"/>
                <a:ea typeface="Calibri"/>
                <a:cs typeface="Calibri"/>
                <a:sym typeface="Calibri"/>
              </a:rPr>
              <a:t>One platform for every hazard; structured data trail enables post-disaster audit &amp; learning</a:t>
            </a:r>
            <a:endParaRPr b="1" sz="2200"/>
          </a:p>
        </p:txBody>
      </p:sp>
      <p:sp>
        <p:nvSpPr>
          <p:cNvPr id="243" name="Google Shape;243;p21"/>
          <p:cNvSpPr txBox="1"/>
          <p:nvPr/>
        </p:nvSpPr>
        <p:spPr>
          <a:xfrm>
            <a:off x="335259" y="6446050"/>
            <a:ext cx="115215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64000" spcFirstLastPara="1" rIns="640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B2E4E"/>
                </a:solidFill>
                <a:latin typeface="Calibri"/>
                <a:ea typeface="Calibri"/>
                <a:cs typeface="Calibri"/>
                <a:sym typeface="Calibri"/>
              </a:rPr>
              <a:t>One warning  ·  one SOS  ·  one verified rescue — that is the loop.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/>
          <p:nvPr/>
        </p:nvSpPr>
        <p:spPr>
          <a:xfrm>
            <a:off x="8415360" y="1360080"/>
            <a:ext cx="2725200" cy="3038760"/>
          </a:xfrm>
          <a:prstGeom prst="flowChartOffpageConnector">
            <a:avLst/>
          </a:prstGeom>
          <a:solidFill>
            <a:srgbClr val="92CCDC"/>
          </a:solidFill>
          <a:ln cap="flat" cmpd="sng" w="9525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8759880" y="1531440"/>
            <a:ext cx="2140920" cy="82224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4383725" y="1360076"/>
            <a:ext cx="2725200" cy="2708225"/>
          </a:xfrm>
          <a:prstGeom prst="flowChartOffpageConnector">
            <a:avLst/>
          </a:prstGeom>
          <a:solidFill>
            <a:srgbClr val="92CCDC"/>
          </a:solidFill>
          <a:ln cap="flat" cmpd="sng" w="9525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sng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ESP 32 Documentation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4685040" y="1536840"/>
            <a:ext cx="2119320" cy="65988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4674240" y="1499040"/>
            <a:ext cx="2124720" cy="71424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781898" y="1377801"/>
            <a:ext cx="2295400" cy="2427325"/>
          </a:xfrm>
          <a:prstGeom prst="flowChartOffpageConnector">
            <a:avLst/>
          </a:prstGeom>
          <a:solidFill>
            <a:srgbClr val="92CCDC"/>
          </a:solidFill>
          <a:ln cap="flat" cmpd="sng" w="9525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842400" y="1488240"/>
            <a:ext cx="2113920" cy="51948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 txBox="1"/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GB" sz="36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b="0" sz="3600" u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7" name="Google Shape;257;p22"/>
          <p:cNvSpPr txBox="1"/>
          <p:nvPr>
            <p:ph idx="12" type="sldNum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lang="en-GB" sz="1200" u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2"/>
          <p:cNvSpPr txBox="1"/>
          <p:nvPr>
            <p:ph idx="11" type="ftr"/>
          </p:nvPr>
        </p:nvSpPr>
        <p:spPr>
          <a:xfrm>
            <a:off x="4648320" y="6356520"/>
            <a:ext cx="32036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lang="en-GB" sz="1200" u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Your startup LOGO" id="260" name="Google Shape;260;p22"/>
          <p:cNvSpPr/>
          <p:nvPr/>
        </p:nvSpPr>
        <p:spPr>
          <a:xfrm>
            <a:off x="329760" y="252360"/>
            <a:ext cx="1517760" cy="814320"/>
          </a:xfrm>
          <a:prstGeom prst="ellipse">
            <a:avLst/>
          </a:prstGeom>
          <a:solidFill>
            <a:schemeClr val="lt1"/>
          </a:solidFill>
          <a:ln cap="flat" cmpd="sng" w="255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Team Innovexis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905400" y="1567440"/>
            <a:ext cx="2144520" cy="64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ISRO Bhuvan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892800" y="2390040"/>
            <a:ext cx="2144520" cy="402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sng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to ISRO Bhuvan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4650480" y="1567440"/>
            <a:ext cx="2144520" cy="91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ESP-32 Documentation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8703720" y="1502640"/>
            <a:ext cx="2198520" cy="91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 u="sng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Disaster management in India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9291600" y="2576520"/>
            <a:ext cx="1605600" cy="402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sng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Link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543240" y="4737240"/>
            <a:ext cx="828792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to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Repository</a:t>
            </a:r>
            <a:r>
              <a:rPr b="0" lang="en-GB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Project --&gt; 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543240" y="5104440"/>
            <a:ext cx="828792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to Asha Setu Website --&gt; 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543240" y="5472000"/>
            <a:ext cx="828792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to Authority Dashboard --&gt; 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