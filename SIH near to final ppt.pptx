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2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8.xml" ContentType="application/vnd.openxmlformats-officedocument.theme+xml"/>
  <Override PartName="/ppt/theme/theme5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7" r:id="rId6"/>
    <p:sldMasterId id="2147483658" r:id="rId7"/>
    <p:sldMasterId id="2147483659" r:id="rId8"/>
    <p:sldMasterId id="2147483660" r:id="rId9"/>
    <p:sldMasterId id="2147483661" r:id="rId10"/>
    <p:sldMasterId id="2147483662" r:id="rId11"/>
    <p:sldMasterId id="2147483663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B1F508A-75CF-42FC-90DF-F2C7BED033C7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BBF7D17-DC0D-43FA-8006-DF4B531DF7C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B24F9DA-FED4-4981-AC19-8BAD466E783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1E046C9-EE08-4A81-ACEA-9317D6DDE41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61EBCF4-8D15-4D68-9E0C-6C246A14748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05484FC-0A72-4895-A158-3261B88581F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095480"/>
            <a:ext cx="10972440" cy="503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9903C6-A86E-40A3-A73E-D67B7A880E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609480" y="1095480"/>
            <a:ext cx="10972440" cy="503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FBBBB8-6DAA-4575-B69A-7814375ECD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09480" y="1095480"/>
            <a:ext cx="10972440" cy="503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0E1338-1FA6-44D8-8692-1E43BB08073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095480"/>
            <a:ext cx="10972440" cy="503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987602C-6DCE-4E77-AA25-9AFC01DB10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095480"/>
            <a:ext cx="10972440" cy="503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4E706FC-7E18-4D42-8964-9519CEF64B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CF8EAB-BC0C-4CC9-BBA8-A0CB1DB786DA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2440" cy="5030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111D9F-0B0A-4765-835A-4649953B371D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839080" y="274680"/>
            <a:ext cx="2742840" cy="5851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 anchorCtr="1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274680"/>
            <a:ext cx="8026200" cy="5851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07B88C-1507-43DF-B712-CA7C59B33868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2440" cy="5030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6AA157-7993-4D3F-BDD3-21AC8245F393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TradeGothic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3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14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15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1C35D0-BC2B-428A-9BA6-627D25BCA66B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4520" cy="4525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6197760" y="1600200"/>
            <a:ext cx="5384520" cy="4525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dt" idx="16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ftr" idx="17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sldNum" idx="18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C7BC41C-F466-4651-8285-0FE246995975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680" cy="639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680" cy="3951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840" cy="639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840" cy="3951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dt" idx="19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7"/>
          <p:cNvSpPr>
            <a:spLocks noGrp="1"/>
          </p:cNvSpPr>
          <p:nvPr>
            <p:ph type="ftr" idx="20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8"/>
          <p:cNvSpPr>
            <a:spLocks noGrp="1"/>
          </p:cNvSpPr>
          <p:nvPr>
            <p:ph type="sldNum" idx="21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7AE555E-4F8F-458E-8A53-497064A920F6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dt" idx="22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ftr" idx="23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sldNum" idx="24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B1B57E9-AF5B-48BF-91A3-A3946B15AE79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dt" idx="25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ftr" idx="26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27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5A7268-47C9-439B-A794-5E8D7EA840CC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760" cy="1161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5160" cy="58528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641"/>
              </a:spcBef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641"/>
              </a:spcBef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760" cy="4690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28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ftr" idx="29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sldNum" idx="30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36678AC-96AB-449B-9146-D6A8A99CEB00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48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>
            <a:lvl1pPr indent="0" algn="l" defTabSz="457200">
              <a:spcBef>
                <a:spcPts val="281"/>
              </a:spcBef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7pPr>
          </a:lstStyle>
          <a:p>
            <a:pPr indent="0" algn="l" defTabSz="457200">
              <a:spcBef>
                <a:spcPts val="28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dt" idx="3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ftr" idx="3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sldNum" idx="3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5EEE47-47BD-42CE-85BB-979375E1A0EA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docs.espressif.com/projects/esp-idf/en/latest/esp32/?utm_source=chatgpt.com" TargetMode="External"/><Relationship Id="rId2" Type="http://schemas.openxmlformats.org/officeDocument/2006/relationships/image" Target="../media/image2.png"/><Relationship Id="rId3" Type="http://schemas.openxmlformats.org/officeDocument/2006/relationships/hyperlink" Target="https://bhuvan.nrsc.gov.in/ngmaps" TargetMode="External"/><Relationship Id="rId4" Type="http://schemas.openxmlformats.org/officeDocument/2006/relationships/hyperlink" Target="https://pmc.ncbi.nlm.nih.gov/articles/PMC9746566/" TargetMode="External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Freeform: Shap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56680" y="851400"/>
            <a:ext cx="4638240" cy="5154480"/>
          </a:xfrm>
          <a:custGeom>
            <a:avLst/>
            <a:gdLst>
              <a:gd name="textAreaLeft" fmla="*/ 0 w 4638240"/>
              <a:gd name="textAreaRight" fmla="*/ 4638600 w 4638240"/>
              <a:gd name="textAreaTop" fmla="*/ 0 h 5154480"/>
              <a:gd name="textAreaBottom" fmla="*/ 5154840 h 5154480"/>
              <a:gd name="GluePoint1X" fmla="*/ 363179 w 6184806"/>
              <a:gd name="GluePoint1Y" fmla="*/ 3125191 h 5154967"/>
              <a:gd name="GluePoint2X" fmla="*/ 898270 w 6184806"/>
              <a:gd name="GluePoint2Y" fmla="*/ 3125191 h 5154967"/>
              <a:gd name="GluePoint3X" fmla="*/ 980326 w 6184806"/>
              <a:gd name="GluePoint3Y" fmla="*/ 3173551 h 5154967"/>
              <a:gd name="GluePoint4X" fmla="*/ 1248448 w 6184806"/>
              <a:gd name="GluePoint4Y" fmla="*/ 3635277 h 5154967"/>
              <a:gd name="GluePoint5X" fmla="*/ 1248448 w 6184806"/>
              <a:gd name="GluePoint5Y" fmla="*/ 3729695 h 5154967"/>
              <a:gd name="GluePoint6X" fmla="*/ 980326 w 6184806"/>
              <a:gd name="GluePoint6Y" fmla="*/ 4191421 h 5154967"/>
              <a:gd name="GluePoint7X" fmla="*/ 898270 w 6184806"/>
              <a:gd name="GluePoint7Y" fmla="*/ 4239781 h 5154967"/>
              <a:gd name="GluePoint8X" fmla="*/ 363179 w 6184806"/>
              <a:gd name="GluePoint8Y" fmla="*/ 4239781 h 5154967"/>
              <a:gd name="GluePoint9X" fmla="*/ 279969 w 6184806"/>
              <a:gd name="GluePoint9Y" fmla="*/ 4191421 h 5154967"/>
              <a:gd name="GluePoint10X" fmla="*/ 13002 w 6184806"/>
              <a:gd name="GluePoint10Y" fmla="*/ 3729695 h 5154967"/>
              <a:gd name="GluePoint11X" fmla="*/ 13002 w 6184806"/>
              <a:gd name="GluePoint11Y" fmla="*/ 3635277 h 5154967"/>
              <a:gd name="GluePoint12X" fmla="*/ 279969 w 6184806"/>
              <a:gd name="GluePoint12Y" fmla="*/ 3173551 h 5154967"/>
              <a:gd name="GluePoint13X" fmla="*/ 363179 w 6184806"/>
              <a:gd name="GluePoint13Y" fmla="*/ 3125191 h 5154967"/>
              <a:gd name="GluePoint14X" fmla="*/ 2489721 w 6184806"/>
              <a:gd name="GluePoint14Y" fmla="*/ 570035 h 5154967"/>
              <a:gd name="GluePoint15X" fmla="*/ 2764862 w 6184806"/>
              <a:gd name="GluePoint15Y" fmla="*/ 570035 h 5154967"/>
              <a:gd name="GluePoint16X" fmla="*/ 2796959 w 6184806"/>
              <a:gd name="GluePoint16Y" fmla="*/ 570035 h 5154967"/>
              <a:gd name="GluePoint17X" fmla="*/ 2827587 w 6184806"/>
              <a:gd name="GluePoint17Y" fmla="*/ 622777 h 5154967"/>
              <a:gd name="GluePoint18X" fmla="*/ 2977604 w 6184806"/>
              <a:gd name="GluePoint18Y" fmla="*/ 881117 h 5154967"/>
              <a:gd name="GluePoint19X" fmla="*/ 2977604 w 6184806"/>
              <a:gd name="GluePoint19Y" fmla="*/ 1025720 h 5154967"/>
              <a:gd name="GluePoint20X" fmla="*/ 2566968 w 6184806"/>
              <a:gd name="GluePoint20Y" fmla="*/ 1732863 h 5154967"/>
              <a:gd name="GluePoint21X" fmla="*/ 2441299 w 6184806"/>
              <a:gd name="GluePoint21Y" fmla="*/ 1806927 h 5154967"/>
              <a:gd name="GluePoint22X" fmla="*/ 1621798 w 6184806"/>
              <a:gd name="GluePoint22Y" fmla="*/ 1806927 h 5154967"/>
              <a:gd name="GluePoint23X" fmla="*/ 1583218 w 6184806"/>
              <a:gd name="GluePoint23Y" fmla="*/ 1801802 h 5154967"/>
              <a:gd name="GluePoint24X" fmla="*/ 1556683 w 6184806"/>
              <a:gd name="GluePoint24Y" fmla="*/ 1790677 h 5154967"/>
              <a:gd name="GluePoint25X" fmla="*/ 1572899 w 6184806"/>
              <a:gd name="GluePoint25Y" fmla="*/ 1762630 h 5154967"/>
              <a:gd name="GluePoint26X" fmla="*/ 2147429 w 6184806"/>
              <a:gd name="GluePoint26Y" fmla="*/ 768968 h 5154967"/>
              <a:gd name="GluePoint27X" fmla="*/ 2489721 w 6184806"/>
              <a:gd name="GluePoint27Y" fmla="*/ 570035 h 5154967"/>
              <a:gd name="GluePoint28X" fmla="*/ 1573268 w 6184806"/>
              <a:gd name="GluePoint28Y" fmla="*/ 0 h 5154967"/>
              <a:gd name="GluePoint29X" fmla="*/ 2497662 w 6184806"/>
              <a:gd name="GluePoint29Y" fmla="*/ 0 h 5154967"/>
              <a:gd name="GluePoint30X" fmla="*/ 2639415 w 6184806"/>
              <a:gd name="GluePoint30Y" fmla="*/ 83546 h 5154967"/>
              <a:gd name="GluePoint31X" fmla="*/ 2887862 w 6184806"/>
              <a:gd name="GluePoint31Y" fmla="*/ 511387 h 5154967"/>
              <a:gd name="GluePoint32X" fmla="*/ 2915928 w 6184806"/>
              <a:gd name="GluePoint32Y" fmla="*/ 559720 h 5154967"/>
              <a:gd name="GluePoint33X" fmla="*/ 2893844 w 6184806"/>
              <a:gd name="GluePoint33Y" fmla="*/ 559720 h 5154967"/>
              <a:gd name="GluePoint34X" fmla="*/ 2789466 w 6184806"/>
              <a:gd name="GluePoint34Y" fmla="*/ 559720 h 5154967"/>
              <a:gd name="GluePoint35X" fmla="*/ 2744122 w 6184806"/>
              <a:gd name="GluePoint35Y" fmla="*/ 481634 h 5154967"/>
              <a:gd name="GluePoint36X" fmla="*/ 2570885 w 6184806"/>
              <a:gd name="GluePoint36Y" fmla="*/ 183309 h 5154967"/>
              <a:gd name="GluePoint37X" fmla="*/ 2445216 w 6184806"/>
              <a:gd name="GluePoint37Y" fmla="*/ 109243 h 5154967"/>
              <a:gd name="GluePoint38X" fmla="*/ 1625714 w 6184806"/>
              <a:gd name="GluePoint38Y" fmla="*/ 109243 h 5154967"/>
              <a:gd name="GluePoint39X" fmla="*/ 1498276 w 6184806"/>
              <a:gd name="GluePoint39Y" fmla="*/ 183309 h 5154967"/>
              <a:gd name="GluePoint40X" fmla="*/ 1089410 w 6184806"/>
              <a:gd name="GluePoint40Y" fmla="*/ 890450 h 5154967"/>
              <a:gd name="GluePoint41X" fmla="*/ 1089410 w 6184806"/>
              <a:gd name="GluePoint41Y" fmla="*/ 1035054 h 5154967"/>
              <a:gd name="GluePoint42X" fmla="*/ 1498276 w 6184806"/>
              <a:gd name="GluePoint42Y" fmla="*/ 1742196 h 5154967"/>
              <a:gd name="GluePoint43X" fmla="*/ 1552039 w 6184806"/>
              <a:gd name="GluePoint43Y" fmla="*/ 1796422 h 5154967"/>
              <a:gd name="GluePoint44X" fmla="*/ 1558260 w 6184806"/>
              <a:gd name="GluePoint44Y" fmla="*/ 1799029 h 5154967"/>
              <a:gd name="GluePoint45X" fmla="*/ 1524911 w 6184806"/>
              <a:gd name="GluePoint45Y" fmla="*/ 1856707 h 5154967"/>
              <a:gd name="GluePoint46X" fmla="*/ 1500108 w 6184806"/>
              <a:gd name="GluePoint46Y" fmla="*/ 1899604 h 5154967"/>
              <a:gd name="GluePoint47X" fmla="*/ 1525834 w 6184806"/>
              <a:gd name="GluePoint47Y" fmla="*/ 1910390 h 5154967"/>
              <a:gd name="GluePoint48X" fmla="*/ 1569352 w 6184806"/>
              <a:gd name="GluePoint48Y" fmla="*/ 1916170 h 5154967"/>
              <a:gd name="GluePoint49X" fmla="*/ 2493745 w 6184806"/>
              <a:gd name="GluePoint49Y" fmla="*/ 1916170 h 5154967"/>
              <a:gd name="GluePoint50X" fmla="*/ 2635498 w 6184806"/>
              <a:gd name="GluePoint50Y" fmla="*/ 1832627 h 5154967"/>
              <a:gd name="GluePoint51X" fmla="*/ 3098693 w 6184806"/>
              <a:gd name="GluePoint51Y" fmla="*/ 1034974 h 5154967"/>
              <a:gd name="GluePoint52X" fmla="*/ 3098693 w 6184806"/>
              <a:gd name="GluePoint52Y" fmla="*/ 871863 h 5154967"/>
              <a:gd name="GluePoint53X" fmla="*/ 2945803 w 6184806"/>
              <a:gd name="GluePoint53Y" fmla="*/ 608576 h 5154967"/>
              <a:gd name="GluePoint54X" fmla="*/ 2923422 w 6184806"/>
              <a:gd name="GluePoint54Y" fmla="*/ 570035 h 5154967"/>
              <a:gd name="GluePoint55X" fmla="*/ 3027104 w 6184806"/>
              <a:gd name="GluePoint55Y" fmla="*/ 570035 h 5154967"/>
              <a:gd name="GluePoint56X" fmla="*/ 4690846 w 6184806"/>
              <a:gd name="GluePoint56Y" fmla="*/ 570035 h 5154967"/>
              <a:gd name="GluePoint57X" fmla="*/ 5028384 w 6184806"/>
              <a:gd name="GluePoint57Y" fmla="*/ 768968 h 5154967"/>
              <a:gd name="GluePoint58X" fmla="*/ 6131323 w 6184806"/>
              <a:gd name="GluePoint58Y" fmla="*/ 2668304 h 5154967"/>
              <a:gd name="GluePoint59X" fmla="*/ 6131323 w 6184806"/>
              <a:gd name="GluePoint59Y" fmla="*/ 3056698 h 5154967"/>
              <a:gd name="GluePoint60X" fmla="*/ 5028384 w 6184806"/>
              <a:gd name="GluePoint60Y" fmla="*/ 4956035 h 5154967"/>
              <a:gd name="GluePoint61X" fmla="*/ 4690846 w 6184806"/>
              <a:gd name="GluePoint61Y" fmla="*/ 5154967 h 5154967"/>
              <a:gd name="GluePoint62X" fmla="*/ 2489721 w 6184806"/>
              <a:gd name="GluePoint62Y" fmla="*/ 5154967 h 5154967"/>
              <a:gd name="GluePoint63X" fmla="*/ 2147429 w 6184806"/>
              <a:gd name="GluePoint63Y" fmla="*/ 4956035 h 5154967"/>
              <a:gd name="GluePoint64X" fmla="*/ 1049243 w 6184806"/>
              <a:gd name="GluePoint64Y" fmla="*/ 3056698 h 5154967"/>
              <a:gd name="GluePoint65X" fmla="*/ 1049243 w 6184806"/>
              <a:gd name="GluePoint65Y" fmla="*/ 2668304 h 5154967"/>
              <a:gd name="GluePoint66X" fmla="*/ 1457007 w 6184806"/>
              <a:gd name="GluePoint66Y" fmla="*/ 1963067 h 5154967"/>
              <a:gd name="GluePoint67X" fmla="*/ 1491373 w 6184806"/>
              <a:gd name="GluePoint67Y" fmla="*/ 1903634 h 5154967"/>
              <a:gd name="GluePoint68X" fmla="*/ 1490164 w 6184806"/>
              <a:gd name="GluePoint68Y" fmla="*/ 1903127 h 5154967"/>
              <a:gd name="GluePoint69X" fmla="*/ 1429519 w 6184806"/>
              <a:gd name="GluePoint69Y" fmla="*/ 1841960 h 5154967"/>
              <a:gd name="GluePoint70X" fmla="*/ 968320 w 6184806"/>
              <a:gd name="GluePoint70Y" fmla="*/ 1044307 h 5154967"/>
              <a:gd name="GluePoint71X" fmla="*/ 968320 w 6184806"/>
              <a:gd name="GluePoint71Y" fmla="*/ 881196 h 5154967"/>
              <a:gd name="GluePoint72X" fmla="*/ 1429519 w 6184806"/>
              <a:gd name="GluePoint72Y" fmla="*/ 83546 h 5154967"/>
              <a:gd name="GluePoint73X" fmla="*/ 1573268 w 6184806"/>
              <a:gd name="GluePoint73Y" fmla="*/ 0 h 51549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</a:cxnLst>
            <a:rect l="textAreaLeft" t="textAreaTop" r="textAreaRight" b="textAreaBottom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dk1">
              <a:lumMod val="50000"/>
              <a:lumOff val="50000"/>
              <a:alpha val="15000"/>
            </a:scheme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7" name="Picture 4"/>
          <p:cNvPicPr/>
          <p:nvPr/>
        </p:nvPicPr>
        <p:blipFill>
          <a:blip r:embed="rId1"/>
          <a:srcRect l="0" t="0" r="59916" b="0"/>
          <a:stretch/>
        </p:blipFill>
        <p:spPr>
          <a:xfrm>
            <a:off x="8557200" y="1715760"/>
            <a:ext cx="3203280" cy="342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31200" y="-526680"/>
            <a:ext cx="10362960" cy="2076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1" u="none" strike="noStrike">
                <a:solidFill>
                  <a:schemeClr val="dk2"/>
                </a:solidFill>
                <a:effectLst/>
                <a:uFillTx/>
                <a:latin typeface="Garamond"/>
                <a:ea typeface="ＭＳ Ｐゴシック"/>
              </a:rPr>
              <a:t>SMART INDIA HACKATHON 2026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pic>
        <p:nvPicPr>
          <p:cNvPr id="79" name="Picture 1"/>
          <p:cNvPicPr/>
          <p:nvPr/>
        </p:nvPicPr>
        <p:blipFill>
          <a:blip r:embed="rId2"/>
          <a:stretch/>
        </p:blipFill>
        <p:spPr>
          <a:xfrm>
            <a:off x="9780120" y="1440"/>
            <a:ext cx="2249640" cy="106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extBox 6"/>
          <p:cNvSpPr/>
          <p:nvPr/>
        </p:nvSpPr>
        <p:spPr>
          <a:xfrm>
            <a:off x="153720" y="1185840"/>
            <a:ext cx="8121600" cy="58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marL="285840" indent="-285840" defTabSz="4572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Problem Statement ID – 26223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Problem Statement Title – Disaster management and Risk mitigation System (Pre, During, Post Disaster)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Theme – Disaster Management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PS Category – Software + Hardware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Team ID - 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Team Name - Innovexis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croll: Horizontal 14"/>
          <p:cNvSpPr/>
          <p:nvPr/>
        </p:nvSpPr>
        <p:spPr>
          <a:xfrm>
            <a:off x="244080" y="658800"/>
            <a:ext cx="11760480" cy="2141640"/>
          </a:xfrm>
          <a:prstGeom prst="horizontalScroll">
            <a:avLst>
              <a:gd name="adj" fmla="val 12500"/>
            </a:avLst>
          </a:prstGeom>
          <a:solidFill>
            <a:srgbClr val="F75757"/>
          </a:solidFill>
          <a:ln w="9360">
            <a:solidFill>
              <a:srgbClr val="F75757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82880" y="-31896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br>
              <a:rPr sz="3600"/>
            </a:b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Aasha Setu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83" name="Oval 9" descr="Your startup LOGO"/>
          <p:cNvSpPr/>
          <p:nvPr/>
        </p:nvSpPr>
        <p:spPr>
          <a:xfrm>
            <a:off x="0" y="52200"/>
            <a:ext cx="1794960" cy="661320"/>
          </a:xfrm>
          <a:prstGeom prst="ellipse">
            <a:avLst/>
          </a:prstGeom>
          <a:solidFill>
            <a:schemeClr val="lt1"/>
          </a:solidFill>
          <a:ln w="25560">
            <a:solidFill>
              <a:schemeClr val="accent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Team Innovexis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"/>
          <a:stretch/>
        </p:blipFill>
        <p:spPr>
          <a:xfrm>
            <a:off x="10432080" y="1440"/>
            <a:ext cx="1597680" cy="75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Rectangle: Rounded Corners 1"/>
          <p:cNvSpPr/>
          <p:nvPr/>
        </p:nvSpPr>
        <p:spPr>
          <a:xfrm>
            <a:off x="4077720" y="153000"/>
            <a:ext cx="3156840" cy="670680"/>
          </a:xfrm>
          <a:prstGeom prst="roundRect">
            <a:avLst>
              <a:gd name="adj" fmla="val 16667"/>
            </a:avLst>
          </a:prstGeom>
          <a:noFill/>
          <a:ln w="28440">
            <a:solidFill>
              <a:schemeClr val="accent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13"/>
          <p:cNvSpPr/>
          <p:nvPr/>
        </p:nvSpPr>
        <p:spPr>
          <a:xfrm rot="7200">
            <a:off x="430920" y="988200"/>
            <a:ext cx="11398680" cy="17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18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ＭＳ Ｐゴシック"/>
              </a:rPr>
              <a:t>An integrated disaster management platform with pre, during and post disaster management systems.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18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ＭＳ Ｐゴシック"/>
              </a:rPr>
              <a:t>Rescue Teams struggle struggle to identify who needs help and where.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18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ＭＳ Ｐゴシック"/>
              </a:rPr>
              <a:t>We do not have a system to send SOS message without cellular network.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18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ＭＳ Ｐゴシック"/>
              </a:rPr>
              <a:t>Lost &amp; found cases become difficult to coordinate at the time of chaos.</a:t>
            </a:r>
            <a:br>
              <a:rPr sz="1800"/>
            </a:br>
            <a:r>
              <a:rPr lang="en-GB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hought Bubble: Cloud 18"/>
          <p:cNvSpPr/>
          <p:nvPr/>
        </p:nvSpPr>
        <p:spPr>
          <a:xfrm>
            <a:off x="284400" y="2862000"/>
            <a:ext cx="1699560" cy="8586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rgbClr val="FFA751"/>
          </a:solidFill>
          <a:ln w="9360">
            <a:solidFill>
              <a:srgbClr val="FFA75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GB" sz="180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Pre Disaster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Arrow: Right 19"/>
          <p:cNvSpPr/>
          <p:nvPr/>
        </p:nvSpPr>
        <p:spPr>
          <a:xfrm>
            <a:off x="2142720" y="3051720"/>
            <a:ext cx="368280" cy="484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A751"/>
          </a:solidFill>
          <a:ln w="9360">
            <a:solidFill>
              <a:srgbClr val="FFA75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Rectangle: Rounded Corners 20"/>
          <p:cNvSpPr/>
          <p:nvPr/>
        </p:nvSpPr>
        <p:spPr>
          <a:xfrm>
            <a:off x="2684160" y="2856600"/>
            <a:ext cx="2774880" cy="937440"/>
          </a:xfrm>
          <a:prstGeom prst="roundRect">
            <a:avLst>
              <a:gd name="adj" fmla="val 16667"/>
            </a:avLst>
          </a:prstGeom>
          <a:solidFill>
            <a:srgbClr val="FFA751"/>
          </a:solidFill>
          <a:ln w="9360">
            <a:solidFill>
              <a:srgbClr val="FFA75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22"/>
          <p:cNvSpPr/>
          <p:nvPr/>
        </p:nvSpPr>
        <p:spPr>
          <a:xfrm>
            <a:off x="2694600" y="2879280"/>
            <a:ext cx="276444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180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ＭＳ Ｐゴシック"/>
              </a:rPr>
              <a:t>Real-time information of rainfall, cyclone, flood, landslide chances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: Rounded Corners 23"/>
          <p:cNvSpPr/>
          <p:nvPr/>
        </p:nvSpPr>
        <p:spPr>
          <a:xfrm>
            <a:off x="6352920" y="2848680"/>
            <a:ext cx="2196000" cy="1002240"/>
          </a:xfrm>
          <a:prstGeom prst="roundRect">
            <a:avLst>
              <a:gd name="adj" fmla="val 16667"/>
            </a:avLst>
          </a:prstGeom>
          <a:solidFill>
            <a:srgbClr val="FFA751"/>
          </a:solidFill>
          <a:ln w="9360">
            <a:solidFill>
              <a:srgbClr val="FFA75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24"/>
          <p:cNvSpPr/>
          <p:nvPr/>
        </p:nvSpPr>
        <p:spPr>
          <a:xfrm>
            <a:off x="6450480" y="2936160"/>
            <a:ext cx="223272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180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ＭＳ Ｐゴシック"/>
              </a:rPr>
              <a:t>Monitors river level and river course change.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: Rounded Corners 26"/>
          <p:cNvSpPr/>
          <p:nvPr/>
        </p:nvSpPr>
        <p:spPr>
          <a:xfrm>
            <a:off x="9201960" y="2871000"/>
            <a:ext cx="2689920" cy="884880"/>
          </a:xfrm>
          <a:prstGeom prst="roundRect">
            <a:avLst>
              <a:gd name="adj" fmla="val 16667"/>
            </a:avLst>
          </a:prstGeom>
          <a:solidFill>
            <a:srgbClr val="FFA751"/>
          </a:solidFill>
          <a:ln w="9360">
            <a:solidFill>
              <a:srgbClr val="FFA751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27"/>
          <p:cNvSpPr/>
          <p:nvPr/>
        </p:nvSpPr>
        <p:spPr>
          <a:xfrm>
            <a:off x="9447840" y="2800440"/>
            <a:ext cx="22327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4572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hought Bubble: Cloud 39"/>
          <p:cNvSpPr/>
          <p:nvPr/>
        </p:nvSpPr>
        <p:spPr>
          <a:xfrm>
            <a:off x="213840" y="4069440"/>
            <a:ext cx="1699560" cy="8586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rgbClr val="F75757"/>
          </a:solidFill>
          <a:ln w="9360">
            <a:solidFill>
              <a:srgbClr val="F75757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GB" sz="180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 During Disaster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Arrow: Right 40"/>
          <p:cNvSpPr/>
          <p:nvPr/>
        </p:nvSpPr>
        <p:spPr>
          <a:xfrm>
            <a:off x="2072160" y="4259520"/>
            <a:ext cx="470520" cy="484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75757"/>
          </a:solidFill>
          <a:ln w="9360">
            <a:solidFill>
              <a:srgbClr val="F75757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Rectangle: Rounded Corners 41"/>
          <p:cNvSpPr/>
          <p:nvPr/>
        </p:nvSpPr>
        <p:spPr>
          <a:xfrm>
            <a:off x="2629080" y="4052520"/>
            <a:ext cx="3017520" cy="1072440"/>
          </a:xfrm>
          <a:prstGeom prst="roundRect">
            <a:avLst>
              <a:gd name="adj" fmla="val 16667"/>
            </a:avLst>
          </a:prstGeom>
          <a:solidFill>
            <a:srgbClr val="F75757"/>
          </a:solidFill>
          <a:ln w="9360">
            <a:solidFill>
              <a:srgbClr val="F75757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42"/>
          <p:cNvSpPr/>
          <p:nvPr/>
        </p:nvSpPr>
        <p:spPr>
          <a:xfrm>
            <a:off x="2754720" y="4058280"/>
            <a:ext cx="2655000" cy="10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160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ＭＳ Ｐゴシック"/>
              </a:rPr>
              <a:t>Provides info of nearest rescue centres, hospitals and lets to access offline map of the area.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ectangle: Rounded Corners 43"/>
          <p:cNvSpPr/>
          <p:nvPr/>
        </p:nvSpPr>
        <p:spPr>
          <a:xfrm>
            <a:off x="6376320" y="4105440"/>
            <a:ext cx="2265120" cy="1090080"/>
          </a:xfrm>
          <a:prstGeom prst="roundRect">
            <a:avLst>
              <a:gd name="adj" fmla="val 16667"/>
            </a:avLst>
          </a:prstGeom>
          <a:solidFill>
            <a:srgbClr val="F75757"/>
          </a:solidFill>
          <a:ln w="9360">
            <a:solidFill>
              <a:srgbClr val="F75757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44"/>
          <p:cNvSpPr/>
          <p:nvPr/>
        </p:nvSpPr>
        <p:spPr>
          <a:xfrm>
            <a:off x="6474600" y="4185720"/>
            <a:ext cx="223272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180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ＭＳ Ｐゴシック"/>
              </a:rPr>
              <a:t>Helps to  check safety status of family members.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: Rounded Corners 46"/>
          <p:cNvSpPr/>
          <p:nvPr/>
        </p:nvSpPr>
        <p:spPr>
          <a:xfrm>
            <a:off x="9236880" y="3876840"/>
            <a:ext cx="2772000" cy="1470960"/>
          </a:xfrm>
          <a:prstGeom prst="roundRect">
            <a:avLst>
              <a:gd name="adj" fmla="val 16667"/>
            </a:avLst>
          </a:prstGeom>
          <a:solidFill>
            <a:srgbClr val="F75757"/>
          </a:solidFill>
          <a:ln w="9360">
            <a:solidFill>
              <a:srgbClr val="F75757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47"/>
          <p:cNvSpPr/>
          <p:nvPr/>
        </p:nvSpPr>
        <p:spPr>
          <a:xfrm>
            <a:off x="9271800" y="3884400"/>
            <a:ext cx="2737080" cy="146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180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ＭＳ Ｐゴシック"/>
              </a:rPr>
              <a:t>A trapped person can send SOS message to nearby drone through wifi and bluetooth even without any network.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hought Bubble: Cloud 49"/>
          <p:cNvSpPr/>
          <p:nvPr/>
        </p:nvSpPr>
        <p:spPr>
          <a:xfrm>
            <a:off x="237240" y="5546520"/>
            <a:ext cx="1699560" cy="8586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accent1">
              <a:lumMod val="75000"/>
            </a:schemeClr>
          </a:solidFill>
          <a:ln w="9360">
            <a:solidFill>
              <a:schemeClr val="accent1">
                <a:lumMod val="7500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GB" sz="180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Post Disaster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Arrow: Right 50"/>
          <p:cNvSpPr/>
          <p:nvPr/>
        </p:nvSpPr>
        <p:spPr>
          <a:xfrm>
            <a:off x="2095560" y="5736600"/>
            <a:ext cx="415440" cy="484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>
              <a:lumMod val="75000"/>
            </a:schemeClr>
          </a:solidFill>
          <a:ln w="9360">
            <a:solidFill>
              <a:schemeClr val="accent1">
                <a:lumMod val="7500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Rectangle: Rounded Corners 51"/>
          <p:cNvSpPr/>
          <p:nvPr/>
        </p:nvSpPr>
        <p:spPr>
          <a:xfrm>
            <a:off x="2660760" y="5459040"/>
            <a:ext cx="2798280" cy="1154520"/>
          </a:xfrm>
          <a:prstGeom prst="roundRect">
            <a:avLst>
              <a:gd name="adj" fmla="val 15024"/>
            </a:avLst>
          </a:prstGeom>
          <a:solidFill>
            <a:schemeClr val="accent1">
              <a:lumMod val="75000"/>
            </a:schemeClr>
          </a:solidFill>
          <a:ln w="9360">
            <a:solidFill>
              <a:schemeClr val="accent1">
                <a:lumMod val="7500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52"/>
          <p:cNvSpPr/>
          <p:nvPr/>
        </p:nvSpPr>
        <p:spPr>
          <a:xfrm>
            <a:off x="2770920" y="5529960"/>
            <a:ext cx="276768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180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ＭＳ Ｐゴシック"/>
              </a:rPr>
              <a:t>Provides lost &amp; found section to find and report loved ones.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: Rounded Corners 53"/>
          <p:cNvSpPr/>
          <p:nvPr/>
        </p:nvSpPr>
        <p:spPr>
          <a:xfrm>
            <a:off x="6567120" y="5529600"/>
            <a:ext cx="2086200" cy="93168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</a:schemeClr>
          </a:solidFill>
          <a:ln w="9360">
            <a:solidFill>
              <a:schemeClr val="accent1">
                <a:lumMod val="7500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54"/>
          <p:cNvSpPr/>
          <p:nvPr/>
        </p:nvSpPr>
        <p:spPr>
          <a:xfrm>
            <a:off x="6576480" y="5533200"/>
            <a:ext cx="223272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180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ＭＳ Ｐゴシック"/>
              </a:rPr>
              <a:t>Relays authorities messages regarding rescue.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: Rounded Corners 56"/>
          <p:cNvSpPr/>
          <p:nvPr/>
        </p:nvSpPr>
        <p:spPr>
          <a:xfrm>
            <a:off x="9785160" y="5459400"/>
            <a:ext cx="2238840" cy="119556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</a:schemeClr>
          </a:solidFill>
          <a:ln w="9360">
            <a:solidFill>
              <a:schemeClr val="accent1">
                <a:lumMod val="7500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57"/>
          <p:cNvSpPr/>
          <p:nvPr/>
        </p:nvSpPr>
        <p:spPr>
          <a:xfrm>
            <a:off x="9817920" y="5474520"/>
            <a:ext cx="2232720" cy="11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180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ＭＳ Ｐゴシック"/>
              </a:rPr>
              <a:t>Provides emotional support through chatbot to cure trauma.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5692680" y="3162600"/>
            <a:ext cx="359640" cy="359640"/>
          </a:xfrm>
          <a:custGeom>
            <a:avLst/>
            <a:gdLst>
              <a:gd name="textAreaLeft" fmla="*/ 148320 w 359640"/>
              <a:gd name="textAreaRight" fmla="*/ 211320 w 359640"/>
              <a:gd name="textAreaTop" fmla="*/ 148320 h 359640"/>
              <a:gd name="textAreaBottom" fmla="*/ 211320 h 3596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10800"/>
                </a:moveTo>
                <a:lnTo>
                  <a:pt x="8900" y="8900"/>
                </a:lnTo>
                <a:lnTo>
                  <a:pt x="10800" y="0"/>
                </a:lnTo>
                <a:lnTo>
                  <a:pt x="12700" y="8900"/>
                </a:lnTo>
                <a:lnTo>
                  <a:pt x="21600" y="10800"/>
                </a:lnTo>
                <a:lnTo>
                  <a:pt x="12700" y="12700"/>
                </a:lnTo>
                <a:lnTo>
                  <a:pt x="10800" y="21600"/>
                </a:lnTo>
                <a:lnTo>
                  <a:pt x="8900" y="12700"/>
                </a:lnTo>
                <a:lnTo>
                  <a:pt x="0" y="108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8683200" y="3218040"/>
            <a:ext cx="359640" cy="359640"/>
          </a:xfrm>
          <a:custGeom>
            <a:avLst/>
            <a:gdLst>
              <a:gd name="textAreaLeft" fmla="*/ 148320 w 359640"/>
              <a:gd name="textAreaRight" fmla="*/ 211320 w 359640"/>
              <a:gd name="textAreaTop" fmla="*/ 148320 h 359640"/>
              <a:gd name="textAreaBottom" fmla="*/ 211320 h 3596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10800"/>
                </a:moveTo>
                <a:lnTo>
                  <a:pt x="8900" y="8900"/>
                </a:lnTo>
                <a:lnTo>
                  <a:pt x="10800" y="0"/>
                </a:lnTo>
                <a:lnTo>
                  <a:pt x="12700" y="8900"/>
                </a:lnTo>
                <a:lnTo>
                  <a:pt x="21600" y="10800"/>
                </a:lnTo>
                <a:lnTo>
                  <a:pt x="12700" y="12700"/>
                </a:lnTo>
                <a:lnTo>
                  <a:pt x="10800" y="21600"/>
                </a:lnTo>
                <a:lnTo>
                  <a:pt x="8900" y="12700"/>
                </a:lnTo>
                <a:lnTo>
                  <a:pt x="0" y="108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9383400" y="2897640"/>
            <a:ext cx="1972440" cy="85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Offline downloadable maps available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5732280" y="4422600"/>
            <a:ext cx="359640" cy="359640"/>
          </a:xfrm>
          <a:custGeom>
            <a:avLst/>
            <a:gdLst>
              <a:gd name="textAreaLeft" fmla="*/ 148320 w 359640"/>
              <a:gd name="textAreaRight" fmla="*/ 211320 w 359640"/>
              <a:gd name="textAreaTop" fmla="*/ 148320 h 359640"/>
              <a:gd name="textAreaBottom" fmla="*/ 211320 h 3596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10800"/>
                </a:moveTo>
                <a:lnTo>
                  <a:pt x="8900" y="8900"/>
                </a:lnTo>
                <a:lnTo>
                  <a:pt x="10800" y="0"/>
                </a:lnTo>
                <a:lnTo>
                  <a:pt x="12700" y="8900"/>
                </a:lnTo>
                <a:lnTo>
                  <a:pt x="21600" y="10800"/>
                </a:lnTo>
                <a:lnTo>
                  <a:pt x="12700" y="12700"/>
                </a:lnTo>
                <a:lnTo>
                  <a:pt x="10800" y="21600"/>
                </a:lnTo>
                <a:lnTo>
                  <a:pt x="8900" y="12700"/>
                </a:lnTo>
                <a:lnTo>
                  <a:pt x="0" y="108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8785800" y="4359960"/>
            <a:ext cx="359640" cy="359640"/>
          </a:xfrm>
          <a:custGeom>
            <a:avLst/>
            <a:gdLst>
              <a:gd name="textAreaLeft" fmla="*/ 148320 w 359640"/>
              <a:gd name="textAreaRight" fmla="*/ 211320 w 359640"/>
              <a:gd name="textAreaTop" fmla="*/ 148320 h 359640"/>
              <a:gd name="textAreaBottom" fmla="*/ 211320 h 3596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10800"/>
                </a:moveTo>
                <a:lnTo>
                  <a:pt x="8900" y="8900"/>
                </a:lnTo>
                <a:lnTo>
                  <a:pt x="10800" y="0"/>
                </a:lnTo>
                <a:lnTo>
                  <a:pt x="12700" y="8900"/>
                </a:lnTo>
                <a:lnTo>
                  <a:pt x="21600" y="10800"/>
                </a:lnTo>
                <a:lnTo>
                  <a:pt x="12700" y="12700"/>
                </a:lnTo>
                <a:lnTo>
                  <a:pt x="10800" y="21600"/>
                </a:lnTo>
                <a:lnTo>
                  <a:pt x="8900" y="12700"/>
                </a:lnTo>
                <a:lnTo>
                  <a:pt x="0" y="108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TECHNICAL APPROACH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ldNum" idx="37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A55E9DF-E3BC-441D-97AF-EB1EAFC5D00B}" type="slidenum">
              <a: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ftr" idx="38"/>
          </p:nvPr>
        </p:nvSpPr>
        <p:spPr>
          <a:xfrm>
            <a:off x="4648320" y="6356520"/>
            <a:ext cx="3203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TradeGothic"/>
              </a:rPr>
              <a:t>@SIH Idea submission- Template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Oval 10" descr="Your startup LOGO"/>
          <p:cNvSpPr/>
          <p:nvPr/>
        </p:nvSpPr>
        <p:spPr>
          <a:xfrm>
            <a:off x="0" y="39960"/>
            <a:ext cx="1811520" cy="645120"/>
          </a:xfrm>
          <a:prstGeom prst="ellipse">
            <a:avLst/>
          </a:prstGeom>
          <a:solidFill>
            <a:schemeClr val="lt1"/>
          </a:solidFill>
          <a:ln w="25560">
            <a:solidFill>
              <a:schemeClr val="accent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Team Innovexis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Picture 11"/>
          <p:cNvPicPr/>
          <p:nvPr/>
        </p:nvPicPr>
        <p:blipFill>
          <a:blip r:embed="rId1"/>
          <a:stretch/>
        </p:blipFill>
        <p:spPr>
          <a:xfrm>
            <a:off x="9780120" y="1440"/>
            <a:ext cx="2249640" cy="106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"/>
          <p:cNvPicPr/>
          <p:nvPr/>
        </p:nvPicPr>
        <p:blipFill>
          <a:blip r:embed="rId2"/>
          <a:stretch/>
        </p:blipFill>
        <p:spPr>
          <a:xfrm>
            <a:off x="748800" y="1163520"/>
            <a:ext cx="10101960" cy="5557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FEASIBILITY AND VIABILITY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sldNum" idx="3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E1C343A-264C-4732-8FB9-219E7A10D51D}" type="slidenum"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ftr" idx="40"/>
          </p:nvPr>
        </p:nvSpPr>
        <p:spPr>
          <a:xfrm>
            <a:off x="4648320" y="6356520"/>
            <a:ext cx="3203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FFFFFF"/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TradeGothic"/>
              </a:rPr>
              <a:t>@SIH Idea submission- Template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Oval 11" descr="Your startup LOGO"/>
          <p:cNvSpPr/>
          <p:nvPr/>
        </p:nvSpPr>
        <p:spPr>
          <a:xfrm>
            <a:off x="136440" y="252360"/>
            <a:ext cx="1632600" cy="812880"/>
          </a:xfrm>
          <a:prstGeom prst="ellipse">
            <a:avLst/>
          </a:prstGeom>
          <a:solidFill>
            <a:schemeClr val="lt1"/>
          </a:solidFill>
          <a:ln w="25560">
            <a:solidFill>
              <a:schemeClr val="accent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Team Innovexis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Picture 10"/>
          <p:cNvPicPr/>
          <p:nvPr/>
        </p:nvPicPr>
        <p:blipFill>
          <a:blip r:embed="rId1"/>
          <a:stretch/>
        </p:blipFill>
        <p:spPr>
          <a:xfrm>
            <a:off x="9780120" y="1440"/>
            <a:ext cx="2249640" cy="106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Arrow: Pentagon 4"/>
          <p:cNvSpPr/>
          <p:nvPr/>
        </p:nvSpPr>
        <p:spPr>
          <a:xfrm>
            <a:off x="302040" y="1275840"/>
            <a:ext cx="6288480" cy="2014200"/>
          </a:xfrm>
          <a:prstGeom prst="homePlate">
            <a:avLst>
              <a:gd name="adj" fmla="val 50000"/>
            </a:avLst>
          </a:prstGeom>
          <a:solidFill>
            <a:srgbClr val="AD504E"/>
          </a:solidFill>
          <a:ln w="9360">
            <a:solidFill>
              <a:srgbClr val="AD504E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Arrow: Pentagon 12"/>
          <p:cNvSpPr/>
          <p:nvPr/>
        </p:nvSpPr>
        <p:spPr>
          <a:xfrm>
            <a:off x="5829480" y="3198240"/>
            <a:ext cx="6253560" cy="1926360"/>
          </a:xfrm>
          <a:prstGeom prst="homePlate">
            <a:avLst>
              <a:gd name="adj" fmla="val 50000"/>
            </a:avLst>
          </a:prstGeom>
          <a:solidFill>
            <a:srgbClr val="9BBB59"/>
          </a:solidFill>
          <a:ln w="9360">
            <a:solidFill>
              <a:srgbClr val="9BBB59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Arrow: Pentagon 13"/>
          <p:cNvSpPr/>
          <p:nvPr/>
        </p:nvSpPr>
        <p:spPr>
          <a:xfrm>
            <a:off x="302040" y="4804560"/>
            <a:ext cx="6081120" cy="2000160"/>
          </a:xfrm>
          <a:prstGeom prst="homePlate">
            <a:avLst>
              <a:gd name="adj" fmla="val 50000"/>
            </a:avLst>
          </a:prstGeom>
          <a:solidFill>
            <a:schemeClr val="dk2">
              <a:lumMod val="60000"/>
              <a:lumOff val="40000"/>
            </a:schemeClr>
          </a:solidFill>
          <a:ln w="9360">
            <a:solidFill>
              <a:srgbClr val="4A7EB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14"/>
          <p:cNvSpPr/>
          <p:nvPr/>
        </p:nvSpPr>
        <p:spPr>
          <a:xfrm>
            <a:off x="304920" y="1277640"/>
            <a:ext cx="5784840" cy="19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155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ＭＳ Ｐゴシック"/>
              </a:rPr>
              <a:t>Technical Feasibility</a:t>
            </a:r>
            <a:endParaRPr lang="en-IN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155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Uses ESP32/ESP8266, drones, sensors and smartphones</a:t>
            </a:r>
            <a:endParaRPr lang="en-IN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155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Web/mobile platform integrates multiple disaster services</a:t>
            </a:r>
            <a:endParaRPr lang="en-IN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155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GPS/location can work without internet when device-level location is available</a:t>
            </a:r>
            <a:endParaRPr lang="en-IN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155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Offline communication can be extended through local wireless/mesh-based relaying.</a:t>
            </a:r>
            <a:endParaRPr lang="en-IN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5"/>
          <p:cNvSpPr/>
          <p:nvPr/>
        </p:nvSpPr>
        <p:spPr>
          <a:xfrm>
            <a:off x="5843880" y="3200400"/>
            <a:ext cx="5784840" cy="19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1700" b="1" u="none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Operational Feasibility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1700" b="1" u="none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Citizens → SOS &amp; receive alerts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1700" b="1" u="none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Authorities → broadcast instructions &amp; relief information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1700" b="1" u="none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Rescue teams → locate and prioritize victims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1700" b="1" u="none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Drone → acts as an emergency communication bridge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2" name="Table 18"/>
          <p:cNvGraphicFramePr/>
          <p:nvPr/>
        </p:nvGraphicFramePr>
        <p:xfrm>
          <a:off x="451440" y="4808880"/>
          <a:ext cx="5244840" cy="2195640"/>
        </p:xfrm>
        <a:graphic>
          <a:graphicData uri="http://schemas.openxmlformats.org/drawingml/2006/table">
            <a:tbl>
              <a:tblPr/>
              <a:tblGrid>
                <a:gridCol w="2622600"/>
                <a:gridCol w="2622600"/>
              </a:tblGrid>
              <a:tr h="245160">
                <a:tc>
                  <a:txBody>
                    <a:bodyPr lIns="0" tIns="0" rIns="0" bIns="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GB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Challenge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GB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Approach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490320">
                <a:tc>
                  <a:txBody>
                    <a:bodyPr lIns="0" tIns="0" rIns="0" bIns="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GB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No cellular network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GB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ESP32 + drone-based communication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490320">
                <a:tc>
                  <a:txBody>
                    <a:bodyPr lIns="0" tIns="0" rIns="0" bIns="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GB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High number of victims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GB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Priority-based SOS information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490320">
                <a:tc>
                  <a:txBody>
                    <a:bodyPr lIns="0" tIns="0" rIns="0" bIns="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GB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Post-disaster coordination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GB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Centralized Lost &amp; Found + Aid information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IMPACT AND BENEFITS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sldNum" idx="41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ACDBA2E-D321-498B-8BAE-5A6DCFCD90B9}" type="slidenum"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ftr" idx="42"/>
          </p:nvPr>
        </p:nvSpPr>
        <p:spPr>
          <a:xfrm>
            <a:off x="4648320" y="6356520"/>
            <a:ext cx="3203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FFFFFF"/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TradeGothic"/>
              </a:rPr>
              <a:t>@SIH Idea submission- Template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6" name="Picture 10"/>
          <p:cNvPicPr/>
          <p:nvPr/>
        </p:nvPicPr>
        <p:blipFill>
          <a:blip r:embed="rId1"/>
          <a:stretch/>
        </p:blipFill>
        <p:spPr>
          <a:xfrm>
            <a:off x="9780120" y="1440"/>
            <a:ext cx="2249640" cy="106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Rectangle: Folded Corner 4"/>
          <p:cNvSpPr/>
          <p:nvPr/>
        </p:nvSpPr>
        <p:spPr>
          <a:xfrm>
            <a:off x="501840" y="1215720"/>
            <a:ext cx="3244320" cy="4346640"/>
          </a:xfrm>
          <a:prstGeom prst="foldedCorner">
            <a:avLst>
              <a:gd name="adj" fmla="val 16667"/>
            </a:avLst>
          </a:prstGeom>
          <a:solidFill>
            <a:schemeClr val="accent6"/>
          </a:solidFill>
          <a:ln w="38160">
            <a:solidFill>
              <a:schemeClr val="lt1"/>
            </a:solidFill>
            <a:round/>
          </a:ln>
          <a:effectLst>
            <a:outerShdw dist="20160" dir="5400000" blurRad="399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Rectangle: Folded Corner 7"/>
          <p:cNvSpPr/>
          <p:nvPr/>
        </p:nvSpPr>
        <p:spPr>
          <a:xfrm>
            <a:off x="8543520" y="1215720"/>
            <a:ext cx="3244320" cy="4346640"/>
          </a:xfrm>
          <a:prstGeom prst="foldedCorner">
            <a:avLst>
              <a:gd name="adj" fmla="val 16667"/>
            </a:avLst>
          </a:prstGeom>
          <a:solidFill>
            <a:schemeClr val="accent4"/>
          </a:solidFill>
          <a:ln w="38160">
            <a:solidFill>
              <a:schemeClr val="lt1"/>
            </a:solidFill>
            <a:round/>
          </a:ln>
          <a:effectLst>
            <a:outerShdw dist="20160" dir="5400000" blurRad="399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Rectangle: Folded Corner 8"/>
          <p:cNvSpPr/>
          <p:nvPr/>
        </p:nvSpPr>
        <p:spPr>
          <a:xfrm>
            <a:off x="4541040" y="1222920"/>
            <a:ext cx="3429360" cy="4324680"/>
          </a:xfrm>
          <a:prstGeom prst="foldedCorner">
            <a:avLst>
              <a:gd name="adj" fmla="val 16667"/>
            </a:avLst>
          </a:prstGeom>
          <a:solidFill>
            <a:schemeClr val="accent3"/>
          </a:solidFill>
          <a:ln w="38160">
            <a:solidFill>
              <a:schemeClr val="lt1"/>
            </a:solidFill>
            <a:round/>
          </a:ln>
          <a:effectLst>
            <a:outerShdw dist="20160" dir="5400000" blurRad="399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15"/>
          <p:cNvSpPr/>
          <p:nvPr/>
        </p:nvSpPr>
        <p:spPr>
          <a:xfrm>
            <a:off x="606600" y="1405800"/>
            <a:ext cx="2766600" cy="39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👥</a:t>
            </a: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 </a:t>
            </a:r>
            <a:r>
              <a:rPr lang="en-GB" sz="180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ＭＳ Ｐゴシック"/>
              </a:rPr>
              <a:t>FOR CITIZENS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Faster disaster warnings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Nearest shelter/hospital discovery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Emergency SOS even during connectivity failure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Lost &amp; Found assistance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Post-disaster emotional support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17"/>
          <p:cNvSpPr/>
          <p:nvPr/>
        </p:nvSpPr>
        <p:spPr>
          <a:xfrm>
            <a:off x="4542480" y="1257840"/>
            <a:ext cx="3432240" cy="46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165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🚑 FOR RESCUE TEAMS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165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📍 Better victim location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165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🆘 Prioritized emergency requests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165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🚁 Drone-assisted monitoring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165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📡 Alternative communication pathway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GB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🏛️ </a:t>
            </a:r>
            <a:r>
              <a:rPr lang="en-GB" sz="165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FOR AUTHORITIES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165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📢 Centralized emergency communication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165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🌊 Real-time environmental risk information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165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🏥 Relief &amp; medical-aid coordination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165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📊 Better situational awareness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18"/>
          <p:cNvSpPr/>
          <p:nvPr/>
        </p:nvSpPr>
        <p:spPr>
          <a:xfrm>
            <a:off x="8566920" y="1235520"/>
            <a:ext cx="3232440" cy="45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1850" b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🌍  </a:t>
            </a:r>
            <a:r>
              <a:rPr lang="en-GB" sz="185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LARGER IMPACT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GB" sz="185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Ever Year India faces multiple disasters. Hundreds of people die because they could not be located. Many families gets separated during disaster.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GB" sz="185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Aasha Setu doesn’t just respond to disasters — it connects people, technology and authorities before, during and after them.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IN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GB" sz="1650" b="0" u="none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   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19"/>
          <p:cNvSpPr/>
          <p:nvPr/>
        </p:nvSpPr>
        <p:spPr>
          <a:xfrm>
            <a:off x="74160" y="5977800"/>
            <a:ext cx="12206520" cy="8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2500" b="1" i="1" u="none" strike="noStrike">
                <a:solidFill>
                  <a:schemeClr val="accent1">
                    <a:lumMod val="76000"/>
                  </a:schemeClr>
                </a:solidFill>
                <a:effectLst/>
                <a:uFillTx/>
                <a:latin typeface="Comic Sans MS"/>
                <a:ea typeface="Calibri"/>
              </a:rPr>
              <a:t>“One warning. One SOS. One rescue. One life saved — that is our mission.”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Oval 21" descr="Your startup LOGO"/>
          <p:cNvSpPr/>
          <p:nvPr/>
        </p:nvSpPr>
        <p:spPr>
          <a:xfrm>
            <a:off x="329760" y="252360"/>
            <a:ext cx="1517760" cy="814320"/>
          </a:xfrm>
          <a:prstGeom prst="ellipse">
            <a:avLst/>
          </a:prstGeom>
          <a:solidFill>
            <a:schemeClr val="lt1"/>
          </a:solidFill>
          <a:ln w="25560">
            <a:solidFill>
              <a:schemeClr val="accent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Team Innovexis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Flowchart: Off-page Connector 19"/>
          <p:cNvSpPr/>
          <p:nvPr/>
        </p:nvSpPr>
        <p:spPr>
          <a:xfrm>
            <a:off x="8415360" y="1360080"/>
            <a:ext cx="2725200" cy="3038760"/>
          </a:xfrm>
          <a:prstGeom prst="flowChartOffpageConnector">
            <a:avLst/>
          </a:prstGeom>
          <a:solidFill>
            <a:schemeClr val="accent5">
              <a:lumMod val="60000"/>
              <a:lumOff val="40000"/>
            </a:schemeClr>
          </a:solidFill>
          <a:ln w="9360">
            <a:solidFill>
              <a:schemeClr val="accent5">
                <a:lumMod val="60000"/>
                <a:lumOff val="4000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Rectangle: Rounded Corners 28"/>
          <p:cNvSpPr/>
          <p:nvPr/>
        </p:nvSpPr>
        <p:spPr>
          <a:xfrm>
            <a:off x="8759880" y="1531440"/>
            <a:ext cx="2140920" cy="82224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360">
            <a:solidFill>
              <a:schemeClr val="accent5">
                <a:lumMod val="60000"/>
                <a:lumOff val="4000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Flowchart: Off-page Connector 20"/>
          <p:cNvSpPr/>
          <p:nvPr/>
        </p:nvSpPr>
        <p:spPr>
          <a:xfrm>
            <a:off x="4383720" y="1360080"/>
            <a:ext cx="2725200" cy="3038760"/>
          </a:xfrm>
          <a:prstGeom prst="flowChartOffpageConnector">
            <a:avLst/>
          </a:prstGeom>
          <a:solidFill>
            <a:schemeClr val="accent5">
              <a:lumMod val="60000"/>
              <a:lumOff val="40000"/>
            </a:schemeClr>
          </a:solidFill>
          <a:ln w="9360">
            <a:solidFill>
              <a:schemeClr val="accent5">
                <a:lumMod val="60000"/>
                <a:lumOff val="4000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GB" sz="1800" b="0" u="sng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  <a:hlinkClick r:id="rId1"/>
              </a:rPr>
              <a:t>ESP 32 Documentation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: Rounded Corners 27"/>
          <p:cNvSpPr/>
          <p:nvPr/>
        </p:nvSpPr>
        <p:spPr>
          <a:xfrm>
            <a:off x="4685040" y="1536840"/>
            <a:ext cx="2119320" cy="65988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360">
            <a:solidFill>
              <a:schemeClr val="accent5">
                <a:lumMod val="60000"/>
                <a:lumOff val="4000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Rectangle: Rounded Corners 26"/>
          <p:cNvSpPr/>
          <p:nvPr/>
        </p:nvSpPr>
        <p:spPr>
          <a:xfrm>
            <a:off x="4674240" y="1499040"/>
            <a:ext cx="2124720" cy="71424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360">
            <a:solidFill>
              <a:schemeClr val="accent5">
                <a:lumMod val="60000"/>
                <a:lumOff val="4000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Flowchart: Off-page Connector 4"/>
          <p:cNvSpPr/>
          <p:nvPr/>
        </p:nvSpPr>
        <p:spPr>
          <a:xfrm>
            <a:off x="600840" y="1360080"/>
            <a:ext cx="2725200" cy="3038760"/>
          </a:xfrm>
          <a:prstGeom prst="flowChartOffpageConnector">
            <a:avLst/>
          </a:prstGeom>
          <a:solidFill>
            <a:schemeClr val="accent5">
              <a:lumMod val="60000"/>
              <a:lumOff val="40000"/>
            </a:schemeClr>
          </a:solidFill>
          <a:ln w="9360">
            <a:solidFill>
              <a:schemeClr val="accent5">
                <a:lumMod val="60000"/>
                <a:lumOff val="4000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Rectangle: Rounded Corners 14"/>
          <p:cNvSpPr/>
          <p:nvPr/>
        </p:nvSpPr>
        <p:spPr>
          <a:xfrm>
            <a:off x="842400" y="1488240"/>
            <a:ext cx="2113920" cy="51948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360">
            <a:solidFill>
              <a:schemeClr val="accent5">
                <a:lumMod val="60000"/>
                <a:lumOff val="4000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RESEARCH  AND REFERENCES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sldNum" idx="4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633DE81-46F4-4B36-A292-23A77DAF6AFF}" type="slidenum"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ftr" idx="44"/>
          </p:nvPr>
        </p:nvSpPr>
        <p:spPr>
          <a:xfrm>
            <a:off x="4648320" y="6356520"/>
            <a:ext cx="3203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FFFFFF"/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TradeGothic"/>
              </a:rPr>
              <a:t>@SIH Idea submission- Template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5" name="Picture 11"/>
          <p:cNvPicPr/>
          <p:nvPr/>
        </p:nvPicPr>
        <p:blipFill>
          <a:blip r:embed="rId2"/>
          <a:stretch/>
        </p:blipFill>
        <p:spPr>
          <a:xfrm>
            <a:off x="9780120" y="1440"/>
            <a:ext cx="2249640" cy="106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Oval 2" descr="Your startup LOGO"/>
          <p:cNvSpPr/>
          <p:nvPr/>
        </p:nvSpPr>
        <p:spPr>
          <a:xfrm>
            <a:off x="329760" y="252360"/>
            <a:ext cx="1517760" cy="814320"/>
          </a:xfrm>
          <a:prstGeom prst="ellipse">
            <a:avLst/>
          </a:prstGeom>
          <a:solidFill>
            <a:schemeClr val="lt1"/>
          </a:solidFill>
          <a:ln w="25560">
            <a:solidFill>
              <a:schemeClr val="accent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Team Innovexis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7"/>
          <p:cNvSpPr/>
          <p:nvPr/>
        </p:nvSpPr>
        <p:spPr>
          <a:xfrm>
            <a:off x="905400" y="1567440"/>
            <a:ext cx="214452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GB" sz="1800" b="1" u="sng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ISRO Bhuvan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12"/>
          <p:cNvSpPr/>
          <p:nvPr/>
        </p:nvSpPr>
        <p:spPr>
          <a:xfrm>
            <a:off x="892800" y="2390040"/>
            <a:ext cx="2144520" cy="4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1800" b="0" u="sng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  <a:hlinkClick r:id="rId3"/>
              </a:rPr>
              <a:t>Link to ISRO Bhuvan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22"/>
          <p:cNvSpPr/>
          <p:nvPr/>
        </p:nvSpPr>
        <p:spPr>
          <a:xfrm>
            <a:off x="4650480" y="1567440"/>
            <a:ext cx="214452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GB" sz="1800" b="1" u="sng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ESP-32 Documentation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24"/>
          <p:cNvSpPr/>
          <p:nvPr/>
        </p:nvSpPr>
        <p:spPr>
          <a:xfrm>
            <a:off x="8703720" y="1502640"/>
            <a:ext cx="219852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GB" sz="1800" b="1" u="sng" strike="noStrike">
                <a:solidFill>
                  <a:schemeClr val="lt1"/>
                </a:solidFill>
                <a:effectLst/>
                <a:uFillTx/>
                <a:latin typeface="Comic Sans MS"/>
                <a:ea typeface="Calibri"/>
              </a:rPr>
              <a:t>Disaster management in India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29"/>
          <p:cNvSpPr/>
          <p:nvPr/>
        </p:nvSpPr>
        <p:spPr>
          <a:xfrm>
            <a:off x="9291600" y="2576520"/>
            <a:ext cx="1605600" cy="4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1800" b="0" u="sng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  <a:hlinkClick r:id="rId4"/>
              </a:rPr>
              <a:t>Link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30"/>
          <p:cNvSpPr/>
          <p:nvPr/>
        </p:nvSpPr>
        <p:spPr>
          <a:xfrm>
            <a:off x="543240" y="4737240"/>
            <a:ext cx="82879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Link to documentation of Project --&gt; 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31"/>
          <p:cNvSpPr/>
          <p:nvPr/>
        </p:nvSpPr>
        <p:spPr>
          <a:xfrm>
            <a:off x="543240" y="5104440"/>
            <a:ext cx="82879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Link to Asha Setu Website --&gt; 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32"/>
          <p:cNvSpPr/>
          <p:nvPr/>
        </p:nvSpPr>
        <p:spPr>
          <a:xfrm>
            <a:off x="543240" y="5472000"/>
            <a:ext cx="82879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457200">
              <a:lnSpc>
                <a:spcPct val="100000"/>
              </a:lnSpc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Link to Authority Dashboard --&gt; 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7537</TotalTime>
  <Application>LibreOffice/26.2.6.3$Linux_X86_64 LibreOffice_project/620$Build-3</Application>
  <AppVersion>15.0000</AppVersion>
  <Company>Crowdfunder, Inc.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  <dc:description/>
  <dc:language>en-IN</dc:language>
  <cp:lastModifiedBy/>
  <dcterms:modified xsi:type="dcterms:W3CDTF">2026-09-10T12:40:25Z</dcterms:modified>
  <cp:revision>1139</cp:revision>
  <dc:subject/>
  <dc:title>Investor Pitch Deck Template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5</vt:r8>
  </property>
  <property fmtid="{D5CDD505-2E9C-101B-9397-08002B2CF9AE}" pid="3" name="PresentationFormat">
    <vt:lpwstr>Widescreen</vt:lpwstr>
  </property>
  <property fmtid="{D5CDD505-2E9C-101B-9397-08002B2CF9AE}" pid="4" name="Slides">
    <vt:r8>6</vt:r8>
  </property>
</Properties>
</file>