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502920" y="1188720"/>
            <a:ext cx="8595360" cy="548640"/>
          </a:xfrm>
        </p:spPr>
        <p:txBody>
          <a:bodyPr wrap="square"/>
          <a:lstStyle/>
          <a:p>
            <a:pPr algn="l"/>
            <a:r>
              <a:rPr sz="1600" b="1">
                <a:solidFill>
                  <a:srgbClr val="0E7C7B"/>
                </a:solidFill>
                <a:latin typeface="Calibri"/>
              </a:rPr>
              <a:t>Aasha Setu — Disaster Intelligence, Response &amp; Situational Awareness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E2936"/>
                </a:solidFill>
                <a:latin typeface="Calibri"/>
              </a:rPr>
              <a:t>Problem Statement ID – </a:t>
            </a:r>
            <a:r>
              <a:rPr sz="1900" b="1">
                <a:solidFill>
                  <a:srgbClr val="0B2E4E"/>
                </a:solidFill>
                <a:latin typeface="Calibri"/>
              </a:rPr>
              <a:t>26223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6"/>
                </a:solidFill>
                <a:latin typeface="Calibri"/>
              </a:rPr>
              <a:t>Problem Statement Title – </a:t>
            </a:r>
            <a:r>
              <a:rPr sz="1900" b="1">
                <a:solidFill>
                  <a:srgbClr val="0B2E4E"/>
                </a:solidFill>
                <a:latin typeface="Calibri"/>
              </a:rPr>
              <a:t>Disaster management and Risk mitigation System (Pre, During, Post Disaster)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6"/>
                </a:solidFill>
                <a:latin typeface="Calibri"/>
              </a:rPr>
              <a:t>Theme – </a:t>
            </a:r>
            <a:r>
              <a:rPr sz="1900" b="1">
                <a:solidFill>
                  <a:srgbClr val="0B2E4E"/>
                </a:solidFill>
                <a:latin typeface="Calibri"/>
              </a:rPr>
              <a:t>Disaster Management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6"/>
                </a:solidFill>
                <a:latin typeface="Calibri"/>
              </a:rPr>
              <a:t>PS Category – </a:t>
            </a:r>
            <a:r>
              <a:rPr sz="1900" b="1">
                <a:solidFill>
                  <a:srgbClr val="0B2E4E"/>
                </a:solidFill>
                <a:latin typeface="Calibri"/>
              </a:rPr>
              <a:t>Software + Hardware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6"/>
                </a:solidFill>
                <a:latin typeface="Calibri"/>
              </a:rPr>
              <a:t>Team ID – </a:t>
            </a:r>
            <a:r>
              <a:rPr sz="1900" b="1">
                <a:solidFill>
                  <a:srgbClr val="0B2E4E"/>
                </a:solidFill>
                <a:latin typeface="Calibri"/>
              </a:rPr>
              <a:t>_______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E2936"/>
                </a:solidFill>
                <a:latin typeface="Calibri"/>
              </a:rPr>
              <a:t>Team Name – </a:t>
            </a:r>
            <a:r>
              <a:rPr sz="1900" b="1">
                <a:solidFill>
                  <a:srgbClr val="0B2E4E"/>
                </a:solidFill>
                <a:latin typeface="Calibri"/>
              </a:rPr>
              <a:t>Innovexis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47088" y="91440"/>
            <a:ext cx="7726679" cy="932688"/>
          </a:xfrm>
        </p:spPr>
        <p:txBody>
          <a:bodyPr wrap="square" anchor="ctr"/>
          <a:lstStyle/>
          <a:p>
            <a:pPr eaLnBrk="1" hangingPunct="1" algn="l"/>
            <a:r>
              <a:rPr sz="1900" b="1">
                <a:solidFill>
                  <a:srgbClr val="0B2E4E"/>
                </a:solidFill>
                <a:latin typeface="Calibri"/>
              </a:rPr>
              <a:t>Aasha Setu: one live loop — local risk to verified rescue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182880"/>
            <a:ext cx="1517904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2E4E"/>
            </a:solidFill>
          </a:ln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/>
          <a:lstStyle/>
          <a:p>
            <a:pPr algn="ctr"/>
            <a:r>
              <a:rPr sz="900" b="1">
                <a:solidFill>
                  <a:srgbClr val="0B2E4E"/>
                </a:solidFill>
                <a:latin typeface="Calibri"/>
              </a:rPr>
              <a:t>Team Innovexis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502920" y="1060704"/>
            <a:ext cx="11247120" cy="384048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7B"/>
                </a:solidFill>
                <a:latin typeface="Calibri"/>
              </a:rPr>
              <a:t>Three clients, one API, one real-time loop — a citizen's live risk becomes a verified, dispatched rescue.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329184" y="1517904"/>
            <a:ext cx="3127248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Rounded Rectangle 15363"/>
          <p:cNvSpPr/>
          <p:nvPr/>
        </p:nvSpPr>
        <p:spPr>
          <a:xfrm>
            <a:off x="329184" y="1517904"/>
            <a:ext cx="3127248" cy="310896"/>
          </a:xfrm>
          <a:prstGeom prst="roundRect">
            <a:avLst>
              <a:gd name="adj" fmla="val 12000"/>
            </a:avLst>
          </a:prstGeom>
          <a:solidFill>
            <a:srgbClr val="A9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347472" y="1522475"/>
            <a:ext cx="3090672" cy="301752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THE GAP TODAY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438912" y="1901952"/>
            <a:ext cx="2907791" cy="1828800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1E2936"/>
                </a:solidFill>
                <a:latin typeface="Calibri"/>
              </a:rPr>
              <a:t>•  Hazard alerts, SOS, shelters and family status live in separate apps &amp; hotlines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1E2936"/>
                </a:solidFill>
                <a:latin typeface="Calibri"/>
              </a:rPr>
              <a:t>•  Responders can't tell who needs help, where, or how urgently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1E2936"/>
                </a:solidFill>
                <a:latin typeface="Calibri"/>
              </a:rPr>
              <a:t>•  Unverified reports flood control rooms — no way to rank or trust them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329184" y="3950208"/>
            <a:ext cx="3127248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Rounded Rectangle 15367"/>
          <p:cNvSpPr/>
          <p:nvPr/>
        </p:nvSpPr>
        <p:spPr>
          <a:xfrm>
            <a:off x="329184" y="3950208"/>
            <a:ext cx="3127248" cy="310896"/>
          </a:xfrm>
          <a:prstGeom prst="roundRect">
            <a:avLst>
              <a:gd name="adj" fmla="val 12000"/>
            </a:avLst>
          </a:prstGeom>
          <a:solidFill>
            <a:srgbClr val="27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347472" y="3954780"/>
            <a:ext cx="3090672" cy="301752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HOW AASHA SETU FIXES IT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38912" y="4334256"/>
            <a:ext cx="2907791" cy="1828800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1E2936"/>
                </a:solidFill>
                <a:latin typeface="Calibri"/>
              </a:rPr>
              <a:t>•  One place, updated in real time — no app-switching mid-emergency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1E2936"/>
                </a:solidFill>
                <a:latin typeface="Calibri"/>
              </a:rPr>
              <a:t>•  Every report carries GPS + photo/voice + a priority score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1E2936"/>
                </a:solidFill>
                <a:latin typeface="Calibri"/>
              </a:rPr>
              <a:t>•  Human-verified before dispatch — false alarms don't burn rescue capacity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3675887" y="1517904"/>
            <a:ext cx="4956048" cy="47183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3675887" y="1517904"/>
            <a:ext cx="4956048" cy="310896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3694175" y="1522475"/>
            <a:ext cx="4919472" cy="301752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THE LIVE LOOP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3840479" y="1938528"/>
            <a:ext cx="4626864" cy="731520"/>
          </a:xfrm>
          <a:prstGeom prst="roundRect">
            <a:avLst>
              <a:gd name="adj" fmla="val 5500"/>
            </a:avLst>
          </a:prstGeom>
          <a:solidFill>
            <a:srgbClr val="EDF2F4"/>
          </a:solidFill>
          <a:ln w="9525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TextBox 15374"/>
          <p:cNvSpPr txBox="1"/>
          <p:nvPr/>
        </p:nvSpPr>
        <p:spPr>
          <a:xfrm>
            <a:off x="3968496" y="1965960"/>
            <a:ext cx="4389120" cy="676656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7C7B"/>
                </a:solidFill>
                <a:latin typeface="Calibri"/>
              </a:rPr>
              <a:t>1  SEE    </a:t>
            </a:r>
            <a:r>
              <a:rPr sz="950" b="0">
                <a:solidFill>
                  <a:srgbClr val="1E2936"/>
                </a:solidFill>
                <a:latin typeface="Calibri"/>
              </a:rPr>
              <a:t>Live local risk map + rainfall / flood / cyclone / landslide forecast for your exact GPS point</a:t>
            </a:r>
          </a:p>
        </p:txBody>
      </p:sp>
      <p:sp>
        <p:nvSpPr>
          <p:cNvPr id="15376" name="Isosceles Triangle 15375"/>
          <p:cNvSpPr/>
          <p:nvPr/>
        </p:nvSpPr>
        <p:spPr>
          <a:xfrm rot="10800000">
            <a:off x="6062472" y="2674620"/>
            <a:ext cx="182880" cy="54864"/>
          </a:xfrm>
          <a:prstGeom prst="triangl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Rounded Rectangle 15376"/>
          <p:cNvSpPr/>
          <p:nvPr/>
        </p:nvSpPr>
        <p:spPr>
          <a:xfrm>
            <a:off x="3840479" y="2738628"/>
            <a:ext cx="4626864" cy="731520"/>
          </a:xfrm>
          <a:prstGeom prst="roundRect">
            <a:avLst>
              <a:gd name="adj" fmla="val 5500"/>
            </a:avLst>
          </a:prstGeom>
          <a:solidFill>
            <a:srgbClr val="EDF2F4"/>
          </a:solidFill>
          <a:ln w="9525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8" name="TextBox 15377"/>
          <p:cNvSpPr txBox="1"/>
          <p:nvPr/>
        </p:nvSpPr>
        <p:spPr>
          <a:xfrm>
            <a:off x="3968496" y="2766060"/>
            <a:ext cx="4389120" cy="676656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7C7B"/>
                </a:solidFill>
                <a:latin typeface="Calibri"/>
              </a:rPr>
              <a:t>2  RAISE    </a:t>
            </a:r>
            <a:r>
              <a:rPr sz="950" b="0">
                <a:solidFill>
                  <a:srgbClr val="1E2936"/>
                </a:solidFill>
                <a:latin typeface="Calibri"/>
              </a:rPr>
              <a:t>One-tap Report, or a 3-second-hold SOS with photo, voice note and a fresh GPS fix</a:t>
            </a:r>
          </a:p>
        </p:txBody>
      </p:sp>
      <p:sp>
        <p:nvSpPr>
          <p:cNvPr id="15379" name="Isosceles Triangle 15378"/>
          <p:cNvSpPr/>
          <p:nvPr/>
        </p:nvSpPr>
        <p:spPr>
          <a:xfrm rot="10800000">
            <a:off x="6062472" y="3474720"/>
            <a:ext cx="182880" cy="54864"/>
          </a:xfrm>
          <a:prstGeom prst="triangl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Rounded Rectangle 15379"/>
          <p:cNvSpPr/>
          <p:nvPr/>
        </p:nvSpPr>
        <p:spPr>
          <a:xfrm>
            <a:off x="3840479" y="3538728"/>
            <a:ext cx="4626864" cy="731520"/>
          </a:xfrm>
          <a:prstGeom prst="roundRect">
            <a:avLst>
              <a:gd name="adj" fmla="val 5500"/>
            </a:avLst>
          </a:prstGeom>
          <a:solidFill>
            <a:srgbClr val="EDF2F4"/>
          </a:solidFill>
          <a:ln w="9525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TextBox 15380"/>
          <p:cNvSpPr txBox="1"/>
          <p:nvPr/>
        </p:nvSpPr>
        <p:spPr>
          <a:xfrm>
            <a:off x="3968496" y="3566160"/>
            <a:ext cx="4389120" cy="676656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7C7B"/>
                </a:solidFill>
                <a:latin typeface="Calibri"/>
              </a:rPr>
              <a:t>3  PRIORITISE    </a:t>
            </a:r>
            <a:r>
              <a:rPr sz="950" b="0">
                <a:solidFill>
                  <a:srgbClr val="1E2936"/>
                </a:solidFill>
                <a:latin typeface="Calibri"/>
              </a:rPr>
              <a:t>Auto-scored on the Command Centre queue: severity x people affected x zone risk x report age</a:t>
            </a:r>
          </a:p>
        </p:txBody>
      </p:sp>
      <p:sp>
        <p:nvSpPr>
          <p:cNvPr id="15382" name="Isosceles Triangle 15381"/>
          <p:cNvSpPr/>
          <p:nvPr/>
        </p:nvSpPr>
        <p:spPr>
          <a:xfrm rot="10800000">
            <a:off x="6062472" y="4274820"/>
            <a:ext cx="182880" cy="54864"/>
          </a:xfrm>
          <a:prstGeom prst="triangl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Rounded Rectangle 15382"/>
          <p:cNvSpPr/>
          <p:nvPr/>
        </p:nvSpPr>
        <p:spPr>
          <a:xfrm>
            <a:off x="3840479" y="4338828"/>
            <a:ext cx="4626864" cy="731520"/>
          </a:xfrm>
          <a:prstGeom prst="roundRect">
            <a:avLst>
              <a:gd name="adj" fmla="val 5500"/>
            </a:avLst>
          </a:prstGeom>
          <a:solidFill>
            <a:srgbClr val="EDF2F4"/>
          </a:solidFill>
          <a:ln w="9525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4" name="TextBox 15383"/>
          <p:cNvSpPr txBox="1"/>
          <p:nvPr/>
        </p:nvSpPr>
        <p:spPr>
          <a:xfrm>
            <a:off x="3968496" y="4366260"/>
            <a:ext cx="4389120" cy="676656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7C7B"/>
                </a:solidFill>
                <a:latin typeface="Calibri"/>
              </a:rPr>
              <a:t>4  DISPATCH    </a:t>
            </a:r>
            <a:r>
              <a:rPr sz="950" b="0">
                <a:solidFill>
                  <a:srgbClr val="1E2936"/>
                </a:solidFill>
                <a:latin typeface="Calibri"/>
              </a:rPr>
              <a:t>Operator verifies, then the nearest available responder is routed on an OSRM safe path</a:t>
            </a:r>
          </a:p>
        </p:txBody>
      </p:sp>
      <p:sp>
        <p:nvSpPr>
          <p:cNvPr id="15385" name="Isosceles Triangle 15384"/>
          <p:cNvSpPr/>
          <p:nvPr/>
        </p:nvSpPr>
        <p:spPr>
          <a:xfrm rot="10800000">
            <a:off x="6062472" y="5074920"/>
            <a:ext cx="182880" cy="54864"/>
          </a:xfrm>
          <a:prstGeom prst="triangl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6" name="Rounded Rectangle 15385"/>
          <p:cNvSpPr/>
          <p:nvPr/>
        </p:nvSpPr>
        <p:spPr>
          <a:xfrm>
            <a:off x="3840479" y="5138928"/>
            <a:ext cx="4626864" cy="731520"/>
          </a:xfrm>
          <a:prstGeom prst="roundRect">
            <a:avLst>
              <a:gd name="adj" fmla="val 5500"/>
            </a:avLst>
          </a:prstGeom>
          <a:solidFill>
            <a:srgbClr val="EDF2F4"/>
          </a:solidFill>
          <a:ln w="9525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7" name="TextBox 15386"/>
          <p:cNvSpPr txBox="1"/>
          <p:nvPr/>
        </p:nvSpPr>
        <p:spPr>
          <a:xfrm>
            <a:off x="3968496" y="5166360"/>
            <a:ext cx="4389120" cy="676656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7C7B"/>
                </a:solidFill>
                <a:latin typeface="Calibri"/>
              </a:rPr>
              <a:t>5  CLOSE THE LOOP    </a:t>
            </a:r>
            <a:r>
              <a:rPr sz="950" b="0">
                <a:solidFill>
                  <a:srgbClr val="1E2936"/>
                </a:solidFill>
                <a:latin typeface="Calibri"/>
              </a:rPr>
              <a:t>Status streams back live over SSE to the citizen, their family and their “I am safe” circle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8759952" y="1517904"/>
            <a:ext cx="3127248" cy="47183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9" name="Rounded Rectangle 15388"/>
          <p:cNvSpPr/>
          <p:nvPr/>
        </p:nvSpPr>
        <p:spPr>
          <a:xfrm>
            <a:off x="8759952" y="1517904"/>
            <a:ext cx="3127248" cy="310896"/>
          </a:xfrm>
          <a:prstGeom prst="roundRect">
            <a:avLst>
              <a:gd name="adj" fmla="val 12000"/>
            </a:avLst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0" name="TextBox 15389"/>
          <p:cNvSpPr txBox="1"/>
          <p:nvPr/>
        </p:nvSpPr>
        <p:spPr>
          <a:xfrm>
            <a:off x="8778240" y="1522475"/>
            <a:ext cx="3090672" cy="301752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WHY IT'S DIFFERENT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8906256" y="1938528"/>
            <a:ext cx="2834640" cy="1065276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7C7B"/>
                </a:solidFill>
                <a:latin typeface="Calibri"/>
              </a:rPr>
              <a:t>▸  One real-time loop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6474"/>
                </a:solidFill>
                <a:latin typeface="Calibri"/>
              </a:rPr>
              <a:t>SSE to every client — no Redis, no WebSocket infra to run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8906256" y="3003804"/>
            <a:ext cx="2834640" cy="1065276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7C7B"/>
                </a:solidFill>
                <a:latin typeface="Calibri"/>
              </a:rPr>
              <a:t>▸  Deterministic where lives are at stake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6474"/>
                </a:solidFill>
                <a:latin typeface="Calibri"/>
              </a:rPr>
              <a:t>Risk &amp; priority are auditable pure functions; AI only recommends, a human approves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8906256" y="4069080"/>
            <a:ext cx="2834640" cy="1065276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7C7B"/>
                </a:solidFill>
                <a:latin typeface="Calibri"/>
              </a:rPr>
              <a:t>▸  Degrades, never fails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6474"/>
                </a:solidFill>
                <a:latin typeface="Calibri"/>
              </a:rPr>
              <a:t>Every external API follows real → cache → demo data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8906256" y="5134356"/>
            <a:ext cx="2834640" cy="1065276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7C7B"/>
                </a:solidFill>
                <a:latin typeface="Calibri"/>
              </a:rPr>
              <a:t>▸  Software + hardware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56474"/>
                </a:solidFill>
                <a:latin typeface="Calibri"/>
              </a:rPr>
              <a:t>Drone SAR camera (ESP32-CAM + YOLO11) feeds the same ops queue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47088" y="91440"/>
            <a:ext cx="7726679" cy="932688"/>
          </a:xfrm>
        </p:spPr>
        <p:txBody>
          <a:bodyPr wrap="square" anchor="ctr"/>
          <a:lstStyle/>
          <a:p>
            <a:pPr eaLnBrk="1" hangingPunct="1" algn="l"/>
            <a:r>
              <a:rPr sz="3000" b="1">
                <a:solidFill>
                  <a:srgbClr val="0B2E4E"/>
                </a:solidFill>
                <a:latin typeface="Calibri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182880"/>
            <a:ext cx="1517904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2E4E"/>
            </a:solidFill>
          </a:ln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/>
          <a:lstStyle/>
          <a:p>
            <a:pPr algn="ctr"/>
            <a:r>
              <a:rPr sz="900" b="1">
                <a:solidFill>
                  <a:srgbClr val="0B2E4E"/>
                </a:solidFill>
                <a:latin typeface="Calibri"/>
              </a:rPr>
              <a:t>Team Innovexis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060704"/>
            <a:ext cx="11247120" cy="384048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7B"/>
                </a:solidFill>
                <a:latin typeface="Calibri"/>
              </a:rPr>
              <a:t>Open-source &amp; API-first, deterministic core, deployed on free tiers — 103 backend tests green.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9184" y="1554480"/>
            <a:ext cx="6903720" cy="4617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329184" y="1554480"/>
            <a:ext cx="6903720" cy="310896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47472" y="1559051"/>
            <a:ext cx="6867144" cy="301752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93776" y="1975104"/>
            <a:ext cx="2081783" cy="603504"/>
          </a:xfrm>
          <a:prstGeom prst="roundRect">
            <a:avLst>
              <a:gd name="adj" fmla="val 5500"/>
            </a:avLst>
          </a:prstGeom>
          <a:solidFill>
            <a:srgbClr val="EDF2F4"/>
          </a:solidFill>
          <a:ln w="9525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493776" y="2002536"/>
            <a:ext cx="2081783" cy="548640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B2E4E"/>
                </a:solidFill>
                <a:latin typeface="Calibri"/>
              </a:rPr>
              <a:t>Android app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56474"/>
                </a:solidFill>
                <a:latin typeface="Calibri"/>
              </a:rPr>
              <a:t>Kotlin · Jetpack Compose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740152" y="1975104"/>
            <a:ext cx="2081783" cy="603504"/>
          </a:xfrm>
          <a:prstGeom prst="roundRect">
            <a:avLst>
              <a:gd name="adj" fmla="val 5500"/>
            </a:avLst>
          </a:prstGeom>
          <a:solidFill>
            <a:srgbClr val="EDF2F4"/>
          </a:solidFill>
          <a:ln w="9525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2740152" y="2002536"/>
            <a:ext cx="2081783" cy="548640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B2E4E"/>
                </a:solidFill>
                <a:latin typeface="Calibri"/>
              </a:rPr>
              <a:t>Citizen PWA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56474"/>
                </a:solidFill>
                <a:latin typeface="Calibri"/>
              </a:rPr>
              <a:t>Next.js 16 · React 19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986528" y="1975104"/>
            <a:ext cx="2081783" cy="603504"/>
          </a:xfrm>
          <a:prstGeom prst="roundRect">
            <a:avLst>
              <a:gd name="adj" fmla="val 5500"/>
            </a:avLst>
          </a:prstGeom>
          <a:solidFill>
            <a:srgbClr val="EDF2F4"/>
          </a:solidFill>
          <a:ln w="9525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4986528" y="2002536"/>
            <a:ext cx="2081783" cy="548640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B2E4E"/>
                </a:solidFill>
                <a:latin typeface="Calibri"/>
              </a:rPr>
              <a:t>Command Centre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56474"/>
                </a:solidFill>
                <a:latin typeface="Calibri"/>
              </a:rPr>
              <a:t>Next.js · MapLibre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3781044" y="2578608"/>
            <a:ext cx="0" cy="256032"/>
          </a:xfrm>
          <a:prstGeom prst="bentConnector3">
            <a:avLst/>
          </a:prstGeom>
          <a:ln w="15875">
            <a:solidFill>
              <a:srgbClr val="47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TextBox 17420"/>
          <p:cNvSpPr txBox="1"/>
          <p:nvPr/>
        </p:nvSpPr>
        <p:spPr>
          <a:xfrm>
            <a:off x="493776" y="2798064"/>
            <a:ext cx="6574536" cy="219456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75563"/>
                </a:solidFill>
                <a:latin typeface="Calibri"/>
              </a:rPr>
              <a:t>HTTPS  ·  REST  ·  Server-Sent Events (live)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93776" y="3072384"/>
            <a:ext cx="6574536" cy="1225296"/>
          </a:xfrm>
          <a:prstGeom prst="roundRect">
            <a:avLst>
              <a:gd name="adj" fmla="val 5500"/>
            </a:avLst>
          </a:prstGeom>
          <a:solidFill>
            <a:srgbClr val="E4F0EF"/>
          </a:solidFill>
          <a:ln w="1270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585216" y="3118104"/>
            <a:ext cx="6391655" cy="274320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7C7B"/>
                </a:solidFill>
                <a:latin typeface="Calibri"/>
              </a:rPr>
              <a:t>FastAPI backend  (Python)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585216" y="3438144"/>
            <a:ext cx="2139696" cy="3657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585216" y="3456432"/>
            <a:ext cx="2139696" cy="329184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E2936"/>
                </a:solidFill>
                <a:latin typeface="Calibri"/>
              </a:rPr>
              <a:t>JWT auth · server-side roles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2816352" y="3438144"/>
            <a:ext cx="2103120" cy="3657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2816352" y="3456432"/>
            <a:ext cx="2103120" cy="329184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E2936"/>
                </a:solidFill>
                <a:latin typeface="Calibri"/>
              </a:rPr>
              <a:t>Risk engine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5010912" y="3438144"/>
            <a:ext cx="2139696" cy="3657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5010912" y="3456432"/>
            <a:ext cx="2139696" cy="329184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E2936"/>
                </a:solidFill>
                <a:latin typeface="Calibri"/>
              </a:rPr>
              <a:t>Priority engine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585216" y="3858768"/>
            <a:ext cx="2103120" cy="3657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585216" y="3877056"/>
            <a:ext cx="2103120" cy="329184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E2936"/>
                </a:solidFill>
                <a:latin typeface="Calibri"/>
              </a:rPr>
              <a:t>Safe routing (OSRM)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2779776" y="3858768"/>
            <a:ext cx="2834640" cy="3657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2779776" y="3877056"/>
            <a:ext cx="2834640" cy="329184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E2936"/>
                </a:solidFill>
                <a:latin typeface="Calibri"/>
              </a:rPr>
              <a:t>SSE broker · in-process pub/sub</a:t>
            </a:r>
          </a:p>
        </p:txBody>
      </p:sp>
      <p:cxnSp>
        <p:nvCxnSpPr>
          <p:cNvPr id="17434" name="Connector 17433"/>
          <p:cNvCxnSpPr/>
          <p:nvPr/>
        </p:nvCxnSpPr>
        <p:spPr>
          <a:xfrm>
            <a:off x="3781044" y="4297680"/>
            <a:ext cx="0" cy="237744"/>
          </a:xfrm>
          <a:prstGeom prst="bentConnector3">
            <a:avLst/>
          </a:prstGeom>
          <a:ln w="15875">
            <a:solidFill>
              <a:srgbClr val="47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Rounded Rectangle 17434"/>
          <p:cNvSpPr/>
          <p:nvPr/>
        </p:nvSpPr>
        <p:spPr>
          <a:xfrm>
            <a:off x="493776" y="4553712"/>
            <a:ext cx="3204972" cy="713232"/>
          </a:xfrm>
          <a:prstGeom prst="roundRect">
            <a:avLst>
              <a:gd name="adj" fmla="val 5500"/>
            </a:avLst>
          </a:prstGeom>
          <a:solidFill>
            <a:srgbClr val="E8F1E8"/>
          </a:solidFill>
          <a:ln w="12700">
            <a:solidFill>
              <a:srgbClr val="276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566928" y="4590288"/>
            <a:ext cx="3058668" cy="640080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76B2E"/>
                </a:solidFill>
                <a:latin typeface="Calibri"/>
              </a:rPr>
              <a:t>PostgreSQL + PostGIS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556474"/>
                </a:solidFill>
                <a:latin typeface="Calibri"/>
              </a:rPr>
              <a:t>spatial queries · GIST indexes · Supabase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3863339" y="4553712"/>
            <a:ext cx="3204972" cy="713232"/>
          </a:xfrm>
          <a:prstGeom prst="roundRect">
            <a:avLst>
              <a:gd name="adj" fmla="val 5500"/>
            </a:avLst>
          </a:prstGeom>
          <a:solidFill>
            <a:srgbClr val="F7EEE1"/>
          </a:solidFill>
          <a:ln w="12700">
            <a:solidFill>
              <a:srgbClr val="B95C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3936491" y="4590288"/>
            <a:ext cx="3058668" cy="640080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B95C0E"/>
                </a:solidFill>
                <a:latin typeface="Calibri"/>
              </a:rPr>
              <a:t>External-API gateway  (real → cache → demo)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56474"/>
                </a:solidFill>
                <a:latin typeface="Calibri"/>
              </a:rPr>
              <a:t>Open-Meteo · GloFAS · OSM Overpass · OSRM · Gemini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493776" y="5394960"/>
            <a:ext cx="6574536" cy="566928"/>
          </a:xfrm>
          <a:prstGeom prst="roundRect">
            <a:avLst>
              <a:gd name="adj" fmla="val 5500"/>
            </a:avLst>
          </a:prstGeom>
          <a:solidFill>
            <a:srgbClr val="EEEAF3"/>
          </a:solidFill>
          <a:ln w="11430">
            <a:solidFill>
              <a:srgbClr val="47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585216" y="5422392"/>
            <a:ext cx="6391655" cy="512064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2E4E"/>
                </a:solidFill>
                <a:latin typeface="Calibri"/>
              </a:rPr>
              <a:t>Drone SAR module  </a:t>
            </a:r>
            <a:r>
              <a:rPr sz="800" b="0">
                <a:solidFill>
                  <a:srgbClr val="1E2936"/>
                </a:solidFill>
                <a:latin typeface="Calibri"/>
              </a:rPr>
              <a:t>(hardware prototype):  ESP32-CAM MJPEG → YOLO11 person + yellow-marker detection → detections to Command Centre</a:t>
            </a:r>
          </a:p>
        </p:txBody>
      </p:sp>
      <p:graphicFrame>
        <p:nvGraphicFramePr>
          <p:cNvPr id="17441" name="Table 17440"/>
          <p:cNvGraphicFramePr>
            <a:graphicFrameLocks noGrp="1"/>
          </p:cNvGraphicFramePr>
          <p:nvPr/>
        </p:nvGraphicFramePr>
        <p:xfrm>
          <a:off x="7424927" y="1554480"/>
          <a:ext cx="4443984" cy="2615184"/>
        </p:xfrm>
        <a:graphic>
          <a:graphicData uri="http://schemas.openxmlformats.org/drawingml/2006/table">
            <a:tbl>
              <a:tblPr firstRow="0" bandRow="0"/>
              <a:tblGrid>
                <a:gridCol w="1051560"/>
                <a:gridCol w="3392424"/>
              </a:tblGrid>
              <a:tr h="32689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54864" marR="54864" marT="18288" marB="18288" anchor="ctr">
                    <a:solidFill>
                      <a:srgbClr val="0B2E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Stack</a:t>
                      </a:r>
                    </a:p>
                  </a:txBody>
                  <a:tcPr marL="54864" marR="54864" marT="18288" marB="18288" anchor="ctr">
                    <a:solidFill>
                      <a:srgbClr val="0B2E4E"/>
                    </a:solidFill>
                  </a:tcPr>
                </a:tc>
              </a:tr>
              <a:tr h="326898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Next.js 16, React 19, TS, Tailwind v4, MapLibre GL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6898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Android</a:t>
                      </a:r>
                    </a:p>
                  </a:txBody>
                  <a:tcPr marL="54864" marR="54864" marT="18288" marB="1828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Kotlin, Jetpack Compose, Hilt, Room, WorkManager</a:t>
                      </a:r>
                    </a:p>
                  </a:txBody>
                  <a:tcPr marL="54864" marR="54864" marT="18288" marB="18288" anchor="ctr">
                    <a:solidFill>
                      <a:srgbClr val="F4F7F9"/>
                    </a:solidFill>
                  </a:tcPr>
                </a:tc>
              </a:tr>
              <a:tr h="326898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FastAPI, SQLAlchemy 2 + GeoAlchemy2, Pydantic v2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6898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54864" marR="54864" marT="18288" marB="1828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PostgreSQL 16 + PostGIS 3.4</a:t>
                      </a:r>
                    </a:p>
                  </a:txBody>
                  <a:tcPr marL="54864" marR="54864" marT="18288" marB="18288" anchor="ctr">
                    <a:solidFill>
                      <a:srgbClr val="F4F7F9"/>
                    </a:solidFill>
                  </a:tcPr>
                </a:tc>
              </a:tr>
              <a:tr h="326898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Realtime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Server-Sent Events + in-process broker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6898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Hardware / CV</a:t>
                      </a:r>
                    </a:p>
                  </a:txBody>
                  <a:tcPr marL="54864" marR="54864" marT="18288" marB="1828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ESP32-CAM, Ultralytics YOLO11 (n/s)</a:t>
                      </a:r>
                    </a:p>
                  </a:txBody>
                  <a:tcPr marL="54864" marR="54864" marT="18288" marB="18288" anchor="ctr">
                    <a:solidFill>
                      <a:srgbClr val="F4F7F9"/>
                    </a:solidFill>
                  </a:tcPr>
                </a:tc>
              </a:tr>
              <a:tr h="326898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Hosting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Vercel · Render · Supabase (free tier)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42" name="Rounded Rectangle 17441"/>
          <p:cNvSpPr/>
          <p:nvPr/>
        </p:nvSpPr>
        <p:spPr>
          <a:xfrm>
            <a:off x="7424927" y="4315968"/>
            <a:ext cx="4443984" cy="185623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Rounded Rectangle 17442"/>
          <p:cNvSpPr/>
          <p:nvPr/>
        </p:nvSpPr>
        <p:spPr>
          <a:xfrm>
            <a:off x="7424927" y="4315968"/>
            <a:ext cx="4443984" cy="310896"/>
          </a:xfrm>
          <a:prstGeom prst="roundRect">
            <a:avLst>
              <a:gd name="adj" fmla="val 12000"/>
            </a:avLst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7443215" y="4320540"/>
            <a:ext cx="4407408" cy="301752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BUILD STATUS  (implemented vs prototyped)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7552944" y="4645152"/>
            <a:ext cx="4187952" cy="1463040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69">
                <a:solidFill>
                  <a:srgbClr val="556474"/>
                </a:solidFill>
                <a:latin typeface="Calibri"/>
              </a:rPr>
              <a:t>•  </a:t>
            </a:r>
            <a:r>
              <a:rPr sz="869" b="1">
                <a:solidFill>
                  <a:srgbClr val="276B2E"/>
                </a:solidFill>
                <a:latin typeface="Calibri"/>
              </a:rPr>
              <a:t>Running now:  </a:t>
            </a:r>
            <a:r>
              <a:rPr sz="869" b="0">
                <a:solidFill>
                  <a:srgbClr val="1E2936"/>
                </a:solidFill>
                <a:latin typeface="Calibri"/>
              </a:rPr>
              <a:t>citizen app ~90% of demo scope · Command Centre ~70% · live on Vercel + Render + Supabase · 103 backend tests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69">
                <a:solidFill>
                  <a:srgbClr val="556474"/>
                </a:solidFill>
                <a:latin typeface="Calibri"/>
              </a:rPr>
              <a:t>•  </a:t>
            </a:r>
            <a:r>
              <a:rPr sz="869" b="1">
                <a:solidFill>
                  <a:srgbClr val="B95C0E"/>
                </a:solidFill>
                <a:latin typeface="Calibri"/>
              </a:rPr>
              <a:t>Prototyped:  </a:t>
            </a:r>
            <a:r>
              <a:rPr sz="869" b="0">
                <a:solidFill>
                  <a:srgbClr val="1E2936"/>
                </a:solidFill>
                <a:latin typeface="Calibri"/>
              </a:rPr>
              <a:t>drone person/marker CV, Gemini situation summary, AI confidence-scoring verification — human-in-the-loop by design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>
                <a:solidFill>
                  <a:srgbClr val="556474"/>
                </a:solidFill>
                <a:latin typeface="Calibri"/>
              </a:rPr>
              <a:t>•  </a:t>
            </a:r>
            <a:r>
              <a:rPr sz="869" b="1">
                <a:solidFill>
                  <a:srgbClr val="0E7C7B"/>
                </a:solidFill>
                <a:latin typeface="Calibri"/>
              </a:rPr>
              <a:t>Method:  </a:t>
            </a:r>
            <a:r>
              <a:rPr sz="869" b="0">
                <a:solidFill>
                  <a:srgbClr val="1E2936"/>
                </a:solidFill>
                <a:latin typeface="Calibri"/>
              </a:rPr>
              <a:t>API-first · every integration behind the backend · deterministic core · realtime without extra infra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47088" y="91440"/>
            <a:ext cx="7726679" cy="932688"/>
          </a:xfrm>
        </p:spPr>
        <p:txBody>
          <a:bodyPr wrap="square" anchor="ctr"/>
          <a:lstStyle/>
          <a:p>
            <a:pPr eaLnBrk="1" hangingPunct="1" algn="l"/>
            <a:r>
              <a:rPr sz="3000" b="1">
                <a:solidFill>
                  <a:srgbClr val="0B2E4E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182880"/>
            <a:ext cx="1517904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2E4E"/>
            </a:solidFill>
          </a:ln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/>
          <a:lstStyle/>
          <a:p>
            <a:pPr algn="ctr"/>
            <a:r>
              <a:rPr sz="900" b="1">
                <a:solidFill>
                  <a:srgbClr val="0B2E4E"/>
                </a:solidFill>
                <a:latin typeface="Calibri"/>
              </a:rPr>
              <a:t>Team Innovexis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060704"/>
            <a:ext cx="11247120" cy="384048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7B"/>
                </a:solidFill>
                <a:latin typeface="Calibri"/>
              </a:rPr>
              <a:t>Zero paid-API cost, free hosting, and a graceful-degradation path for every failure mode.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9184" y="1554480"/>
            <a:ext cx="3733799" cy="15179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329184" y="1554480"/>
            <a:ext cx="3733799" cy="310896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47472" y="1559051"/>
            <a:ext cx="3697223" cy="301752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TECHNICAL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38912" y="1920240"/>
            <a:ext cx="3514343" cy="1097280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1E2936"/>
                </a:solidFill>
                <a:latin typeface="Calibri"/>
              </a:rPr>
              <a:t>•  100% open-source stack; no paid API keys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1E2936"/>
                </a:solidFill>
                <a:latin typeface="Calibri"/>
              </a:rPr>
              <a:t>•  PostGIS does the spatial maths — no hand-rolled geo code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1E2936"/>
                </a:solidFill>
                <a:latin typeface="Calibri"/>
              </a:rPr>
              <a:t>•  Boots without a .env file; 103 tests; already deployed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392168" y="1554480"/>
            <a:ext cx="3733799" cy="15179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4392168" y="1554480"/>
            <a:ext cx="3733799" cy="310896"/>
          </a:xfrm>
          <a:prstGeom prst="roundRect">
            <a:avLst>
              <a:gd name="adj" fmla="val 12000"/>
            </a:avLst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4410456" y="1559051"/>
            <a:ext cx="3697223" cy="301752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OPERATIONAL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501896" y="1920240"/>
            <a:ext cx="3514343" cy="1097280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1E2936"/>
                </a:solidFill>
                <a:latin typeface="Calibri"/>
              </a:rPr>
              <a:t>•  3 roles (citizen / responder / admin) on one typed API contract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1E2936"/>
                </a:solidFill>
                <a:latin typeface="Calibri"/>
              </a:rPr>
              <a:t>•  Auto-sign-in demo path; role re-checked on every request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1E2936"/>
                </a:solidFill>
                <a:latin typeface="Calibri"/>
              </a:rPr>
              <a:t>•  Degrades gracefully if venue Wi-Fi or a provider drops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455152" y="1554480"/>
            <a:ext cx="3733799" cy="15179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8455152" y="1554480"/>
            <a:ext cx="3733799" cy="310896"/>
          </a:xfrm>
          <a:prstGeom prst="roundRect">
            <a:avLst>
              <a:gd name="adj" fmla="val 12000"/>
            </a:avLst>
          </a:prstGeom>
          <a:solidFill>
            <a:srgbClr val="27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8473440" y="1559051"/>
            <a:ext cx="3697223" cy="301752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ECONOMIC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564879" y="1920240"/>
            <a:ext cx="3514343" cy="1097280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1E2936"/>
                </a:solidFill>
                <a:latin typeface="Calibri"/>
              </a:rPr>
              <a:t>•  Open-Meteo / OSM / OSRM are free at demo scale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1E2936"/>
                </a:solidFill>
                <a:latin typeface="Calibri"/>
              </a:rPr>
              <a:t>•  One codebase → 3 clients; scales on managed Postgres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>
                <a:solidFill>
                  <a:srgbClr val="1E2936"/>
                </a:solidFill>
                <a:latin typeface="Calibri"/>
              </a:rPr>
              <a:t>•  Runs on low-end Android (minSdk 26, ~99% reach)</a:t>
            </a:r>
          </a:p>
        </p:txBody>
      </p:sp>
      <p:graphicFrame>
        <p:nvGraphicFramePr>
          <p:cNvPr id="17423" name="Table 17422"/>
          <p:cNvGraphicFramePr>
            <a:graphicFrameLocks noGrp="1"/>
          </p:cNvGraphicFramePr>
          <p:nvPr/>
        </p:nvGraphicFramePr>
        <p:xfrm>
          <a:off x="329184" y="3273552"/>
          <a:ext cx="11521440" cy="2926077"/>
        </p:xfrm>
        <a:graphic>
          <a:graphicData uri="http://schemas.openxmlformats.org/drawingml/2006/table">
            <a:tbl>
              <a:tblPr firstRow="0" bandRow="0"/>
              <a:tblGrid>
                <a:gridCol w="3108960"/>
                <a:gridCol w="8412480"/>
              </a:tblGrid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Calibri"/>
                        </a:rPr>
                        <a:t>Challenge / risk</a:t>
                      </a:r>
                    </a:p>
                  </a:txBody>
                  <a:tcPr marL="54864" marR="54864" marT="18288" marB="18288" anchor="ctr">
                    <a:solidFill>
                      <a:srgbClr val="0B2E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Calibri"/>
                        </a:rPr>
                        <a:t>Strategy to overcome it</a:t>
                      </a:r>
                    </a:p>
                  </a:txBody>
                  <a:tcPr marL="54864" marR="54864" marT="18288" marB="18288" anchor="ctr">
                    <a:solidFill>
                      <a:srgbClr val="0B2E4E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Connectivity fails during a disaster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Offline reads (Room cache) + WorkManager SOS queue + downloadable offline map; drone/mesh relay as a designed fallback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An external API goes down mid-demo</a:t>
                      </a:r>
                    </a:p>
                  </a:txBody>
                  <a:tcPr marL="54864" marR="54864" marT="18288" marB="1828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real → cache → demo fallback chain, already implemented for every integration</a:t>
                      </a:r>
                    </a:p>
                  </a:txBody>
                  <a:tcPr marL="54864" marR="54864" marT="18288" marB="18288" anchor="ctr">
                    <a:solidFill>
                      <a:srgbClr val="F4F7F9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False / duplicate reports overwhelm the control room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Confidence scoring + a mandatory human verify gate before any dispatch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Traffic spikes / horizontal scale</a:t>
                      </a:r>
                    </a:p>
                  </a:txBody>
                  <a:tcPr marL="54864" marR="54864" marT="18288" marB="1828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SSE broker contract is a drop-in for Redis; stateless JWT; GIST spatial indexes</a:t>
                      </a:r>
                    </a:p>
                  </a:txBody>
                  <a:tcPr marL="54864" marR="54864" marT="18288" marB="18288" anchor="ctr">
                    <a:solidFill>
                      <a:srgbClr val="F4F7F9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SOS location is inaccurate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High-accuracy GPS fix captured during the 3-second hold; UI warns on coarse location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Location-sharing privacy</a:t>
                      </a:r>
                    </a:p>
                  </a:txBody>
                  <a:tcPr marL="54864" marR="54864" marT="18288" marB="1828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60" b="0">
                          <a:solidFill>
                            <a:srgbClr val="1E2936"/>
                          </a:solidFill>
                          <a:latin typeface="Calibri"/>
                        </a:rPr>
                        <a:t>Opt-in only; server-authoritative roles; JWT encrypted at rest; no third-party key ever on a client</a:t>
                      </a:r>
                    </a:p>
                  </a:txBody>
                  <a:tcPr marL="54864" marR="54864" marT="18288" marB="18288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47088" y="91440"/>
            <a:ext cx="7726679" cy="932688"/>
          </a:xfrm>
        </p:spPr>
        <p:txBody>
          <a:bodyPr wrap="square" anchor="ctr"/>
          <a:lstStyle/>
          <a:p>
            <a:pPr eaLnBrk="1" hangingPunct="1" algn="l"/>
            <a:r>
              <a:rPr sz="3000" b="1">
                <a:solidFill>
                  <a:srgbClr val="0B2E4E"/>
                </a:solidFill>
                <a:latin typeface="Calibri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182880"/>
            <a:ext cx="1517904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2E4E"/>
            </a:solidFill>
          </a:ln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/>
          <a:lstStyle/>
          <a:p>
            <a:pPr algn="ctr"/>
            <a:r>
              <a:rPr sz="900" b="1">
                <a:solidFill>
                  <a:srgbClr val="0B2E4E"/>
                </a:solidFill>
                <a:latin typeface="Calibri"/>
              </a:rPr>
              <a:t>Team Innovexis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060704"/>
            <a:ext cx="11247120" cy="384048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7B"/>
                </a:solidFill>
                <a:latin typeface="Calibri"/>
              </a:rPr>
              <a:t>From scattered hotlines to one auditable loop — on a low-end phone, for any disaster type.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9184" y="1554480"/>
            <a:ext cx="370332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329184" y="1554480"/>
            <a:ext cx="3703320" cy="310896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47472" y="1559051"/>
            <a:ext cx="3666744" cy="301752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FOR CITIZENS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38912" y="1901952"/>
            <a:ext cx="3483863" cy="987552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40" b="0">
                <a:solidFill>
                  <a:srgbClr val="1E2936"/>
                </a:solidFill>
                <a:latin typeface="Calibri"/>
              </a:rPr>
              <a:t>•  Hazard forecast + risk for their exact location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40" b="0">
                <a:solidFill>
                  <a:srgbClr val="1E2936"/>
                </a:solidFill>
                <a:latin typeface="Calibri"/>
              </a:rPr>
              <a:t>•  SOS with evidence that survives a dead network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40" b="0">
                <a:solidFill>
                  <a:srgbClr val="1E2936"/>
                </a:solidFill>
                <a:latin typeface="Calibri"/>
              </a:rPr>
              <a:t>•  Nearest shelter / hospital; family safety status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29184" y="3035808"/>
            <a:ext cx="370332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329184" y="3035808"/>
            <a:ext cx="3703320" cy="310896"/>
          </a:xfrm>
          <a:prstGeom prst="roundRect">
            <a:avLst>
              <a:gd name="adj" fmla="val 12000"/>
            </a:avLst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347472" y="3040380"/>
            <a:ext cx="3666744" cy="301752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FOR RESPONDERS &amp; AUTHORITIES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38912" y="3383280"/>
            <a:ext cx="3483863" cy="987552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40" b="0">
                <a:solidFill>
                  <a:srgbClr val="1E2936"/>
                </a:solidFill>
                <a:latin typeface="Calibri"/>
              </a:rPr>
              <a:t>•  One prioritised queue — act on the right case first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40" b="0">
                <a:solidFill>
                  <a:srgbClr val="1E2936"/>
                </a:solidFill>
                <a:latin typeface="Calibri"/>
              </a:rPr>
              <a:t>•  Verified incidents only; nearest-responder + safe route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40" b="0">
                <a:solidFill>
                  <a:srgbClr val="1E2936"/>
                </a:solidFill>
                <a:latin typeface="Calibri"/>
              </a:rPr>
              <a:t>•  Area-wide alerts + live situational picture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29184" y="4517136"/>
            <a:ext cx="370332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329184" y="4517136"/>
            <a:ext cx="3703320" cy="310896"/>
          </a:xfrm>
          <a:prstGeom prst="roundRect">
            <a:avLst>
              <a:gd name="adj" fmla="val 12000"/>
            </a:avLst>
          </a:prstGeom>
          <a:solidFill>
            <a:srgbClr val="27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347472" y="4521708"/>
            <a:ext cx="3666744" cy="301752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FOR STATE DM AGENCIES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38912" y="4864608"/>
            <a:ext cx="3483863" cy="987552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40" b="0">
                <a:solidFill>
                  <a:srgbClr val="1E2936"/>
                </a:solidFill>
                <a:latin typeface="Calibri"/>
              </a:rPr>
              <a:t>•  Disaster-type-agnostic — new hazard = new type value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40" b="0">
                <a:solidFill>
                  <a:srgbClr val="1E2936"/>
                </a:solidFill>
                <a:latin typeface="Calibri"/>
              </a:rPr>
              <a:t>•  Full audit trail for post-event review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840" b="0">
                <a:solidFill>
                  <a:srgbClr val="1E2936"/>
                </a:solidFill>
                <a:latin typeface="Calibri"/>
              </a:rPr>
              <a:t>•  Deploys on free / low-cost managed infra</a:t>
            </a:r>
          </a:p>
        </p:txBody>
      </p:sp>
      <p:graphicFrame>
        <p:nvGraphicFramePr>
          <p:cNvPr id="17423" name="Table 17422"/>
          <p:cNvGraphicFramePr>
            <a:graphicFrameLocks noGrp="1"/>
          </p:cNvGraphicFramePr>
          <p:nvPr/>
        </p:nvGraphicFramePr>
        <p:xfrm>
          <a:off x="4261104" y="1554480"/>
          <a:ext cx="7598664" cy="2377440"/>
        </p:xfrm>
        <a:graphic>
          <a:graphicData uri="http://schemas.openxmlformats.org/drawingml/2006/table">
            <a:tbl>
              <a:tblPr firstRow="0" bandRow="0"/>
              <a:tblGrid>
                <a:gridCol w="1371600"/>
                <a:gridCol w="2743200"/>
                <a:gridCol w="3483864"/>
              </a:tblGrid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54864" marR="54864" marT="18288" marB="18288" anchor="ctr">
                    <a:solidFill>
                      <a:srgbClr val="0B2E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 marL="54864" marR="54864" marT="18288" marB="18288" anchor="ctr">
                    <a:solidFill>
                      <a:srgbClr val="0B2E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Calibri"/>
                        </a:rPr>
                        <a:t>With Aasha Setu</a:t>
                      </a:r>
                    </a:p>
                  </a:txBody>
                  <a:tcPr marL="54864" marR="54864" marT="18288" marB="18288" anchor="ctr">
                    <a:solidFill>
                      <a:srgbClr val="0B2E4E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E2936"/>
                          </a:solidFill>
                          <a:latin typeface="Calibri"/>
                        </a:rPr>
                        <a:t>Hazard info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E2936"/>
                          </a:solidFill>
                          <a:latin typeface="Calibri"/>
                        </a:rPr>
                        <a:t>Generic city-wide bulletins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E2936"/>
                          </a:solidFill>
                          <a:latin typeface="Calibri"/>
                        </a:rPr>
                        <a:t>Per-GPS-point, 4 hazards, live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E2936"/>
                          </a:solidFill>
                          <a:latin typeface="Calibri"/>
                        </a:rPr>
                        <a:t>Who needs help</a:t>
                      </a:r>
                    </a:p>
                  </a:txBody>
                  <a:tcPr marL="54864" marR="54864" marT="18288" marB="1828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E2936"/>
                          </a:solidFill>
                          <a:latin typeface="Calibri"/>
                        </a:rPr>
                        <a:t>Phone calls, guesswork</a:t>
                      </a:r>
                    </a:p>
                  </a:txBody>
                  <a:tcPr marL="54864" marR="54864" marT="18288" marB="1828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E2936"/>
                          </a:solidFill>
                          <a:latin typeface="Calibri"/>
                        </a:rPr>
                        <a:t>Geotagged reports, ranked by priority</a:t>
                      </a:r>
                    </a:p>
                  </a:txBody>
                  <a:tcPr marL="54864" marR="54864" marT="18288" marB="18288" anchor="ctr">
                    <a:solidFill>
                      <a:srgbClr val="F4F7F9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E2936"/>
                          </a:solidFill>
                          <a:latin typeface="Calibri"/>
                        </a:rPr>
                        <a:t>Report trust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E2936"/>
                          </a:solidFill>
                          <a:latin typeface="Calibri"/>
                        </a:rPr>
                        <a:t>Unverified, duplicated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E2936"/>
                          </a:solidFill>
                          <a:latin typeface="Calibri"/>
                        </a:rPr>
                        <a:t>Confidence score + human verify gate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E2936"/>
                          </a:solidFill>
                          <a:latin typeface="Calibri"/>
                        </a:rPr>
                        <a:t>Dispatch</a:t>
                      </a:r>
                    </a:p>
                  </a:txBody>
                  <a:tcPr marL="54864" marR="54864" marT="18288" marB="1828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E2936"/>
                          </a:solidFill>
                          <a:latin typeface="Calibri"/>
                        </a:rPr>
                        <a:t>Manual radio coordination</a:t>
                      </a:r>
                    </a:p>
                  </a:txBody>
                  <a:tcPr marL="54864" marR="54864" marT="18288" marB="1828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E2936"/>
                          </a:solidFill>
                          <a:latin typeface="Calibri"/>
                        </a:rPr>
                        <a:t>Nearest responder + OSRM safe route</a:t>
                      </a:r>
                    </a:p>
                  </a:txBody>
                  <a:tcPr marL="54864" marR="54864" marT="18288" marB="18288" anchor="ctr">
                    <a:solidFill>
                      <a:srgbClr val="F4F7F9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E2936"/>
                          </a:solidFill>
                          <a:latin typeface="Calibri"/>
                        </a:rPr>
                        <a:t>When network drops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E2936"/>
                          </a:solidFill>
                          <a:latin typeface="Calibri"/>
                        </a:rPr>
                        <a:t>Nothing gets through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40" b="0">
                          <a:solidFill>
                            <a:srgbClr val="1E2936"/>
                          </a:solidFill>
                          <a:latin typeface="Calibri"/>
                        </a:rPr>
                        <a:t>Queued SOS + offline map + drone relay (designed)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24" name="Rounded Rectangle 17423"/>
          <p:cNvSpPr/>
          <p:nvPr/>
        </p:nvSpPr>
        <p:spPr>
          <a:xfrm>
            <a:off x="4261104" y="4078224"/>
            <a:ext cx="2447544" cy="17007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4261104" y="4078224"/>
            <a:ext cx="2447544" cy="310896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4279392" y="4082796"/>
            <a:ext cx="2410968" cy="301752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SOCIAL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370832" y="4443984"/>
            <a:ext cx="2228088" cy="1280160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1E2936"/>
                </a:solidFill>
                <a:latin typeface="Calibri"/>
              </a:rPr>
              <a:t>Faster help; families reconnected via check-ins; equal access on free OSM maps + low-end phones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836664" y="4078224"/>
            <a:ext cx="2447544" cy="17007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ounded Rectangle 17428"/>
          <p:cNvSpPr/>
          <p:nvPr/>
        </p:nvSpPr>
        <p:spPr>
          <a:xfrm>
            <a:off x="6836664" y="4078224"/>
            <a:ext cx="2447544" cy="310896"/>
          </a:xfrm>
          <a:prstGeom prst="roundRect">
            <a:avLst>
              <a:gd name="adj" fmla="val 12000"/>
            </a:avLst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6854952" y="4082796"/>
            <a:ext cx="2410968" cy="301752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ECONOMIC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946392" y="4443984"/>
            <a:ext cx="2228088" cy="1280160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1E2936"/>
                </a:solidFill>
                <a:latin typeface="Calibri"/>
              </a:rPr>
              <a:t>No paid-API cost; open-source; reuses free hosting tiers; less duplicated field effort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9412224" y="4078224"/>
            <a:ext cx="2447544" cy="17007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9412224" y="4078224"/>
            <a:ext cx="2447544" cy="310896"/>
          </a:xfrm>
          <a:prstGeom prst="roundRect">
            <a:avLst>
              <a:gd name="adj" fmla="val 12000"/>
            </a:avLst>
          </a:prstGeom>
          <a:solidFill>
            <a:srgbClr val="27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9430512" y="4082796"/>
            <a:ext cx="2410968" cy="301752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SYSTEMIC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9521952" y="4443984"/>
            <a:ext cx="2228088" cy="1280160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1E2936"/>
                </a:solidFill>
                <a:latin typeface="Calibri"/>
              </a:rPr>
              <a:t>One platform for every hazard; structured data trail enables post-disaster audit &amp; learning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329184" y="5943600"/>
            <a:ext cx="11521440" cy="292608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2E4E"/>
                </a:solidFill>
                <a:latin typeface="Calibri"/>
              </a:rPr>
              <a:t>One warning  ·  one SOS  ·  one verified rescue — that is the loop.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847088" y="91440"/>
            <a:ext cx="7726679" cy="932688"/>
          </a:xfrm>
        </p:spPr>
        <p:txBody>
          <a:bodyPr wrap="square" anchor="ctr"/>
          <a:lstStyle/>
          <a:p>
            <a:pPr eaLnBrk="1" hangingPunct="1" algn="l"/>
            <a:r>
              <a:rPr sz="3000" b="1">
                <a:solidFill>
                  <a:srgbClr val="0B2E4E"/>
                </a:solidFill>
                <a:latin typeface="Calibri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182880"/>
            <a:ext cx="1517904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2E4E"/>
            </a:solidFill>
          </a:ln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18288" rIns="18288"/>
          <a:lstStyle/>
          <a:p>
            <a:pPr algn="ctr"/>
            <a:r>
              <a:rPr sz="900" b="1">
                <a:solidFill>
                  <a:srgbClr val="0B2E4E"/>
                </a:solidFill>
                <a:latin typeface="Calibri"/>
              </a:rPr>
              <a:t>Team Innovexis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060704"/>
            <a:ext cx="11247120" cy="384048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7B"/>
                </a:solidFill>
                <a:latin typeface="Calibri"/>
              </a:rPr>
              <a:t>Built entirely on open data, open standards and open-source frameworks.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9184" y="1591056"/>
            <a:ext cx="5742432" cy="22677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329184" y="1591056"/>
            <a:ext cx="5742432" cy="310896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47472" y="1595628"/>
            <a:ext cx="5705856" cy="301752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DATA &amp; APIs  (all free / open)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93776" y="2066543"/>
            <a:ext cx="5431536" cy="1719072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050" b="0">
                <a:solidFill>
                  <a:srgbClr val="1E2936"/>
                </a:solidFill>
                <a:latin typeface="Calibri"/>
              </a:rPr>
              <a:t>•  Open-Meteo — weather + flood (GloFAS river discharge) · open-meteo.com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050" b="0">
                <a:solidFill>
                  <a:srgbClr val="1E2936"/>
                </a:solidFill>
                <a:latin typeface="Calibri"/>
              </a:rPr>
              <a:t>•  OpenStreetMap / Overpass API · openstreetmap.org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050" b="0">
                <a:solidFill>
                  <a:srgbClr val="1E2936"/>
                </a:solidFill>
                <a:latin typeface="Calibri"/>
              </a:rPr>
              <a:t>•  OSRM routing engine · project-osrm.org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050" b="0">
                <a:solidFill>
                  <a:srgbClr val="1E2936"/>
                </a:solidFill>
                <a:latin typeface="Calibri"/>
              </a:rPr>
              <a:t>•  Google Gemini API · ai.google.dev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437376" y="1591056"/>
            <a:ext cx="5742432" cy="22677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ounded Rectangle 17415"/>
          <p:cNvSpPr/>
          <p:nvPr/>
        </p:nvSpPr>
        <p:spPr>
          <a:xfrm>
            <a:off x="6437376" y="1591056"/>
            <a:ext cx="5742432" cy="310896"/>
          </a:xfrm>
          <a:prstGeom prst="roundRect">
            <a:avLst>
              <a:gd name="adj" fmla="val 12000"/>
            </a:avLst>
          </a:prstGeom>
          <a:solidFill>
            <a:srgbClr val="0B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6455664" y="1595628"/>
            <a:ext cx="5705856" cy="301752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DOMAIN &amp; STANDARDS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601968" y="2066543"/>
            <a:ext cx="5431536" cy="1719072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050" b="0">
                <a:solidFill>
                  <a:srgbClr val="1E2936"/>
                </a:solidFill>
                <a:latin typeface="Calibri"/>
              </a:rPr>
              <a:t>•  NDMA National Disaster Management Guidelines · ndma.gov.in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050" b="0">
                <a:solidFill>
                  <a:srgbClr val="1E2936"/>
                </a:solidFill>
                <a:latin typeface="Calibri"/>
              </a:rPr>
              <a:t>•  Common Alerting Protocol (CAP) · Sachet · sachet.ndma.gov.in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050" b="0">
                <a:solidFill>
                  <a:srgbClr val="1E2936"/>
                </a:solidFill>
                <a:latin typeface="Calibri"/>
              </a:rPr>
              <a:t>•  ISRO Bhuvan geoplatform · bhuvan.nrsc.gov.in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050" b="0">
                <a:solidFill>
                  <a:srgbClr val="1E2936"/>
                </a:solidFill>
                <a:latin typeface="Calibri"/>
              </a:rPr>
              <a:t>•  Ultralytics YOLO11 — aerial person detection · docs.ultralytics.com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29184" y="4133087"/>
            <a:ext cx="11521440" cy="19385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CF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ounded Rectangle 17419"/>
          <p:cNvSpPr/>
          <p:nvPr/>
        </p:nvSpPr>
        <p:spPr>
          <a:xfrm>
            <a:off x="329184" y="4133087"/>
            <a:ext cx="11521440" cy="310896"/>
          </a:xfrm>
          <a:prstGeom prst="roundRect">
            <a:avLst>
              <a:gd name="adj" fmla="val 12000"/>
            </a:avLst>
          </a:prstGeom>
          <a:solidFill>
            <a:srgbClr val="27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347472" y="4137659"/>
            <a:ext cx="11484864" cy="301752"/>
          </a:xfrm>
          <a:prstGeom prst="rect">
            <a:avLst/>
          </a:prstGeom>
          <a:noFill/>
        </p:spPr>
        <p:txBody>
          <a:bodyPr wrap="square" anchor="ctr" lIns="64008" rIns="64008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FRAMEWORKS &amp; PROJECT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93776" y="4590288"/>
            <a:ext cx="11247120" cy="1371600"/>
          </a:xfrm>
          <a:prstGeom prst="rect">
            <a:avLst/>
          </a:prstGeom>
          <a:noFill/>
        </p:spPr>
        <p:txBody>
          <a:bodyPr wrap="square" anchor="t" lIns="64008" rIns="64008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0">
                <a:solidFill>
                  <a:srgbClr val="1E2936"/>
                </a:solidFill>
                <a:latin typeface="Calibri"/>
              </a:rPr>
              <a:t>•  Frameworks:  FastAPI · PostGIS · SQLAlchemy + GeoAlchemy2 · Next.js · Jetpack Compose · MapLibre GL · Ultralytics YOLO11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0">
                <a:solidFill>
                  <a:srgbClr val="1E2936"/>
                </a:solidFill>
                <a:latin typeface="Calibri"/>
              </a:rPr>
              <a:t>•  Prototype code:  computer-vision scripts in  ml/computer_vision/   ·   Gemini situation summary in  ml/nlp/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E2936"/>
                </a:solidFill>
                <a:latin typeface="Calibri"/>
              </a:rPr>
              <a:t>•  Project links:  code repository  ·  live citizen app  ·  Command Centre dashboard  ·  docs/ARCHITECTURE.md      [ add URLs before PDF upload ]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